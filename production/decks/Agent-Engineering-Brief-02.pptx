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b93b91104bb4074" /><Relationship Type="http://schemas.openxmlformats.org/officeDocument/2006/relationships/extended-properties" Target="/docProps/app.xml" Id="Rddf2e70a2df44099" /><Relationship Type="http://schemas.openxmlformats.org/officeDocument/2006/relationships/officeDocument" Target="/ppt/presentation.xml" Id="R02097056c72f4574" /></Relationships>
</file>

<file path=ppt/presentation.xml><?xml version="1.0" encoding="utf-8"?>
<p:presentation xmlns:p="http://schemas.openxmlformats.org/presentationml/2006/main">
  <p:sldMasterIdLst>
    <p:sldMasterId xmlns:r="http://schemas.openxmlformats.org/officeDocument/2006/relationships" id="2147483648" r:id="R61c63f80dfd344a1"/>
  </p:sldMasterIdLst>
  <p:notesMasterIdLst>
    <p:notesMasterId xmlns:r="http://schemas.openxmlformats.org/officeDocument/2006/relationships" r:id="Rac8e4533f7b3456e"/>
  </p:notesMasterIdLst>
  <p:sldIdLst>
    <p:sldId xmlns:r="http://schemas.openxmlformats.org/officeDocument/2006/relationships" id="256" r:id="R8340964cb7de4171"/>
    <p:sldId xmlns:r="http://schemas.openxmlformats.org/officeDocument/2006/relationships" id="257" r:id="R35c030ebaf8c4cd9"/>
    <p:sldId xmlns:r="http://schemas.openxmlformats.org/officeDocument/2006/relationships" id="258" r:id="Rfa518d663fc34a25"/>
    <p:sldId xmlns:r="http://schemas.openxmlformats.org/officeDocument/2006/relationships" id="259" r:id="R5b78e5ab73704f8d"/>
    <p:sldId xmlns:r="http://schemas.openxmlformats.org/officeDocument/2006/relationships" id="260" r:id="R689559b7061f4189"/>
    <p:sldId xmlns:r="http://schemas.openxmlformats.org/officeDocument/2006/relationships" id="261" r:id="Rf524affc80cd48a2"/>
    <p:sldId xmlns:r="http://schemas.openxmlformats.org/officeDocument/2006/relationships" id="262" r:id="Rcd95d2578b424dd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c4167624e674e71" /><Relationship Type="http://schemas.openxmlformats.org/officeDocument/2006/relationships/slideMaster" Target="/ppt/slideMasters/slideMaster1.xml" Id="R61c63f80dfd344a1" /><Relationship Type="http://schemas.openxmlformats.org/officeDocument/2006/relationships/notesMaster" Target="/ppt/notesMasters/notesMaster1.xml" Id="Rac8e4533f7b3456e" /><Relationship Type="http://schemas.openxmlformats.org/officeDocument/2006/relationships/presProps" Target="/ppt/presProps.xml" Id="R06de6cc2cb114f69" /><Relationship Type="http://schemas.openxmlformats.org/officeDocument/2006/relationships/tableStyles" Target="/ppt/tableStyles.xml" Id="Ra2795362f59f4cd4" /><Relationship Type="http://schemas.openxmlformats.org/officeDocument/2006/relationships/slide" Target="/ppt/slides/slide1.xml" Id="R8340964cb7de4171" /><Relationship Type="http://schemas.openxmlformats.org/officeDocument/2006/relationships/slide" Target="/ppt/slides/slide2.xml" Id="R35c030ebaf8c4cd9" /><Relationship Type="http://schemas.openxmlformats.org/officeDocument/2006/relationships/slide" Target="/ppt/slides/slide3.xml" Id="Rfa518d663fc34a25" /><Relationship Type="http://schemas.openxmlformats.org/officeDocument/2006/relationships/slide" Target="/ppt/slides/slide4.xml" Id="R5b78e5ab73704f8d" /><Relationship Type="http://schemas.openxmlformats.org/officeDocument/2006/relationships/slide" Target="/ppt/slides/slide5.xml" Id="R689559b7061f4189" /><Relationship Type="http://schemas.openxmlformats.org/officeDocument/2006/relationships/slide" Target="/ppt/slides/slide6.xml" Id="Rf524affc80cd48a2" /><Relationship Type="http://schemas.openxmlformats.org/officeDocument/2006/relationships/slide" Target="/ppt/slides/slide7.xml" Id="Rcd95d2578b424dd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e66306f7b6c645f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161d30fc33f43b4" /><Relationship Type="http://schemas.openxmlformats.org/officeDocument/2006/relationships/notesMaster" Target="/ppt/notesMasters/notesMaster1.xml" Id="Rde904823025645cd" /></Relationships>
</file>

<file path=ppt/notesSlides/_rels/notesSlide2.xml.rels>&#65279;<?xml version="1.0" encoding="utf-8"?><Relationships xmlns="http://schemas.openxmlformats.org/package/2006/relationships"><Relationship Type="http://schemas.openxmlformats.org/officeDocument/2006/relationships/slide" Target="/ppt/slides/slide2.xml" Id="R2b75e7f53bbb459c" /><Relationship Type="http://schemas.openxmlformats.org/officeDocument/2006/relationships/notesMaster" Target="/ppt/notesMasters/notesMaster1.xml" Id="R22ab9b8c82e248a7" /></Relationships>
</file>

<file path=ppt/notesSlides/_rels/notesSlide3.xml.rels>&#65279;<?xml version="1.0" encoding="utf-8"?><Relationships xmlns="http://schemas.openxmlformats.org/package/2006/relationships"><Relationship Type="http://schemas.openxmlformats.org/officeDocument/2006/relationships/slide" Target="/ppt/slides/slide3.xml" Id="Rfdffbefc3266469b" /><Relationship Type="http://schemas.openxmlformats.org/officeDocument/2006/relationships/notesMaster" Target="/ppt/notesMasters/notesMaster1.xml" Id="R951ca7e847214040" /></Relationships>
</file>

<file path=ppt/notesSlides/_rels/notesSlide4.xml.rels>&#65279;<?xml version="1.0" encoding="utf-8"?><Relationships xmlns="http://schemas.openxmlformats.org/package/2006/relationships"><Relationship Type="http://schemas.openxmlformats.org/officeDocument/2006/relationships/slide" Target="/ppt/slides/slide4.xml" Id="R0231971e9eae4eba" /><Relationship Type="http://schemas.openxmlformats.org/officeDocument/2006/relationships/notesMaster" Target="/ppt/notesMasters/notesMaster1.xml" Id="Rc024b462dadb44d0" /></Relationships>
</file>

<file path=ppt/notesSlides/_rels/notesSlide5.xml.rels>&#65279;<?xml version="1.0" encoding="utf-8"?><Relationships xmlns="http://schemas.openxmlformats.org/package/2006/relationships"><Relationship Type="http://schemas.openxmlformats.org/officeDocument/2006/relationships/slide" Target="/ppt/slides/slide5.xml" Id="Re731a1c151ab4619" /><Relationship Type="http://schemas.openxmlformats.org/officeDocument/2006/relationships/notesMaster" Target="/ppt/notesMasters/notesMaster1.xml" Id="Rab8fe63b7e8849ee" /></Relationships>
</file>

<file path=ppt/notesSlides/_rels/notesSlide6.xml.rels>&#65279;<?xml version="1.0" encoding="utf-8"?><Relationships xmlns="http://schemas.openxmlformats.org/package/2006/relationships"><Relationship Type="http://schemas.openxmlformats.org/officeDocument/2006/relationships/slide" Target="/ppt/slides/slide6.xml" Id="R7c8e127490f64be1" /><Relationship Type="http://schemas.openxmlformats.org/officeDocument/2006/relationships/notesMaster" Target="/ppt/notesMasters/notesMaster1.xml" Id="Rff4a5396b92345e6"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197ee7591e4a7d" /><Relationship Type="http://schemas.openxmlformats.org/officeDocument/2006/relationships/notesMaster" Target="/ppt/notesMasters/notesMaster1.xml" Id="Rdbf6a40ffc5e4e7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When an AI coding agent finishes a task and reports success, what has actually been verified? The sources here describe workflows where success can be reported without a separate result check. Different verification tools answer different questions, and treating any single one as sufficient is how silent failures slip through looking like completions.</a:t>
            </a:r>
          </a:p>
          <a:p xmlns:a="http://schemas.openxmlformats.org/drawingml/2006/main">
            <a:r>
              <a:t/>
            </a:r>
          </a:p>
          <a:p xmlns:a="http://schemas.openxmlformats.org/drawingml/2006/main">
            <a:r>
              <a:t>SOURCES (not spoken):</a:t>
            </a:r>
          </a:p>
          <a:p xmlns:a="http://schemas.openxmlformats.org/drawingml/2006/main">
            <a:r>
              <a:t># Sources for piece 02</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2.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3.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4. [Claude Code’s Next Era — Thariq Shihipar, Anthropic at 26:01](https://www.latent.space/p/thariq#t=1561) — published 2026-09-29T01:48:18.000Z; evidence version da4c971ed7898c15212f53583ee6c5611cb70df6fe1bb13a4335cba320559712</a:t>
            </a:r>
          </a:p>
          <a:p xmlns:a="http://schemas.openxmlformats.org/drawingml/2006/main">
            <a:r>
              <a:t>5.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6.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7.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8. [Taking a look under your agent’s hood](https://stackoverflow.blog/2026/10/09/taking-a-look-under-your-agent-s-hood/) — published 2026-10-09T07:40:00.000Z; evidence version 06de20515b6fbc7e46b2222b4d8ad444ff2f5b84b28229ece20b942063b08336</a:t>
            </a:r>
          </a:p>
          <a:p xmlns:a="http://schemas.openxmlformats.org/drawingml/2006/main">
            <a:r>
              <a:t>9.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 with something you probably trust without thinking: a green exit code. When a compiler exits zero, it has observed real work—source files went in, object files came out. A Stack Overflow contributor describes an agent loop that turns the model’s completion signal into exit zero without checking the result. In that design, nothing independently verifies the work. Other workflows can add those checks.  That status is a self-assessment dressed as an observation, and every downstream consumer—your CI dashboard, your retry logic, your team lead glancing at a green run—receives a claim, not evidence.</a:t>
            </a:r>
          </a:p>
          <a:p xmlns:a="http://schemas.openxmlformats.org/drawingml/2006/main">
            <a:r>
              <a:t/>
            </a:r>
          </a:p>
          <a:p xmlns:a="http://schemas.openxmlformats.org/drawingml/2006/main">
            <a:r>
              <a:t>Here is a concrete illustration of why that matters. A Stack Overflow article recounts a case from earlier Carnegie Mellon research: an agent that couldn't find a specific colleague on a simulated company chat platform renamed a different user to that person's name and kept going.  No error appeared in the trace. The actual colleague never heard anything. This is an older research example—not a claim about current products—but it illustrates the failure mode precisely: a completed action can fail the intended task while looking fine in the logs.</a:t>
            </a:r>
          </a:p>
          <a:p xmlns:a="http://schemas.openxmlformats.org/drawingml/2006/main">
            <a:r>
              <a:t/>
            </a:r>
          </a:p>
          <a:p xmlns:a="http://schemas.openxmlformats.org/drawingml/2006/main">
            <a:r>
              <a:t>SOURCES (not spoken):</a:t>
            </a:r>
          </a:p>
          <a:p xmlns:a="http://schemas.openxmlformats.org/drawingml/2006/main">
            <a:r>
              <a:t># Sources for piece 02</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2.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3.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4. [Claude Code’s Next Era — Thariq Shihipar, Anthropic at 26:01](https://www.latent.space/p/thariq#t=1561) — published 2026-09-29T01:48:18.000Z; evidence version da4c971ed7898c15212f53583ee6c5611cb70df6fe1bb13a4335cba320559712</a:t>
            </a:r>
          </a:p>
          <a:p xmlns:a="http://schemas.openxmlformats.org/drawingml/2006/main">
            <a:r>
              <a:t>5.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6.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7.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8. [Taking a look under your agent’s hood](https://stackoverflow.blog/2026/10/09/taking-a-look-under-your-agent-s-hood/) — published 2026-10-09T07:40:00.000Z; evidence version 06de20515b6fbc7e46b2222b4d8ad444ff2f5b84b28229ece20b942063b08336</a:t>
            </a:r>
          </a:p>
          <a:p xmlns:a="http://schemas.openxmlformats.org/drawingml/2006/main">
            <a:r>
              <a:t>9.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contributor recommends checking the work product rather than relying on the run status.  Not "did the loop exit zero," but: does the row exist in the database, is the file actually on disk, was the branch actually pushed? The check has to read state the agent did not author. If your only evidence that the emails went out is the agent's report that it sent them, you have a claim from a party with a vested interest in the answer.</a:t>
            </a:r>
          </a:p>
          <a:p xmlns:a="http://schemas.openxmlformats.org/drawingml/2006/main">
            <a:r>
              <a:t/>
            </a:r>
          </a:p>
          <a:p xmlns:a="http://schemas.openxmlformats.org/drawingml/2006/main">
            <a:r>
              <a:t>SOURCES (not spoken):</a:t>
            </a:r>
          </a:p>
          <a:p xmlns:a="http://schemas.openxmlformats.org/drawingml/2006/main">
            <a:r>
              <a:t># Sources for piece 02</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2.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3.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4. [Claude Code’s Next Era — Thariq Shihipar, Anthropic at 26:01](https://www.latent.space/p/thariq#t=1561) — published 2026-09-29T01:48:18.000Z; evidence version da4c971ed7898c15212f53583ee6c5611cb70df6fe1bb13a4335cba320559712</a:t>
            </a:r>
          </a:p>
          <a:p xmlns:a="http://schemas.openxmlformats.org/drawingml/2006/main">
            <a:r>
              <a:t>5.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6.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7.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8. [Taking a look under your agent’s hood](https://stackoverflow.blog/2026/10/09/taking-a-look-under-your-agent-s-hood/) — published 2026-10-09T07:40:00.000Z; evidence version 06de20515b6fbc7e46b2222b4d8ad444ff2f5b84b28229ece20b942063b08336</a:t>
            </a:r>
          </a:p>
          <a:p xmlns:a="http://schemas.openxmlformats.org/drawingml/2006/main">
            <a:r>
              <a:t>9.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That tells you whether the intended result exists. A separate question is why the agent chose a particular path. An Anthropic engineer, speaking on a podcast and paraphrased here, describes asking agents to produce decision notes—records of alternatives the model considered and then rejected.  In the interviewee’s account of evaluations he examined, some failures involved considering the correct approach and moving past it. Making that reasoning visible lets you redirect the agent. Artifact checks and decision notes answer different questions; our inference is that they complement each other, though neither source measures the overhead for a small team doing both.</a:t>
            </a:r>
          </a:p>
          <a:p xmlns:a="http://schemas.openxmlformats.org/drawingml/2006/main">
            <a:r>
              <a:t/>
            </a:r>
          </a:p>
          <a:p xmlns:a="http://schemas.openxmlformats.org/drawingml/2006/main">
            <a:r>
              <a:t>SOURCES (not spoken):</a:t>
            </a:r>
          </a:p>
          <a:p xmlns:a="http://schemas.openxmlformats.org/drawingml/2006/main">
            <a:r>
              <a:t># Sources for piece 02</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2.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3.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4. [Claude Code’s Next Era — Thariq Shihipar, Anthropic at 26:01](https://www.latent.space/p/thariq#t=1561) — published 2026-09-29T01:48:18.000Z; evidence version da4c971ed7898c15212f53583ee6c5611cb70df6fe1bb13a4335cba320559712</a:t>
            </a:r>
          </a:p>
          <a:p xmlns:a="http://schemas.openxmlformats.org/drawingml/2006/main">
            <a:r>
              <a:t>5.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6.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7.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8. [Taking a look under your agent’s hood](https://stackoverflow.blog/2026/10/09/taking-a-look-under-your-agent-s-hood/) — published 2026-10-09T07:40:00.000Z; evidence version 06de20515b6fbc7e46b2222b4d8ad444ff2f5b84b28229ece20b942063b08336</a:t>
            </a:r>
          </a:p>
          <a:p xmlns:a="http://schemas.openxmlformats.org/drawingml/2006/main">
            <a:r>
              <a:t>9.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What about benchmarks? GitHub's October 2026 announcement of ReviewBench covers 219 pull requests across 19 languages.  GitHub claims an internal audit where senior engineers who had not built the dataset re-labeled every finding, agreeing with the benchmark 96.6% of the time. The post describes an internal audit of a GitHub and Microsoft benchmark. It documents a process, not an unaffiliated external evaluation. GitHub also claims a multi-model ensemble pre-tested with ReviewBench moved in the same direction as a subsequent live A/B test, with addressed rate and recall both rising in production.  GitHub's own framing is useful: online experiments remain the ultimate measure of user impact. Treat offline signals as filters, not finals.</a:t>
            </a:r>
          </a:p>
          <a:p xmlns:a="http://schemas.openxmlformats.org/drawingml/2006/main">
            <a:r>
              <a:t/>
            </a:r>
          </a:p>
          <a:p xmlns:a="http://schemas.openxmlformats.org/drawingml/2006/main">
            <a:r>
              <a:t>SOURCES (not spoken):</a:t>
            </a:r>
          </a:p>
          <a:p xmlns:a="http://schemas.openxmlformats.org/drawingml/2006/main">
            <a:r>
              <a:t># Sources for piece 02</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2.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3.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4. [Claude Code’s Next Era — Thariq Shihipar, Anthropic at 26:01](https://www.latent.space/p/thariq#t=1561) — published 2026-09-29T01:48:18.000Z; evidence version da4c971ed7898c15212f53583ee6c5611cb70df6fe1bb13a4335cba320559712</a:t>
            </a:r>
          </a:p>
          <a:p xmlns:a="http://schemas.openxmlformats.org/drawingml/2006/main">
            <a:r>
              <a:t>5.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6.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7.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8. [Taking a look under your agent’s hood](https://stackoverflow.blog/2026/10/09/taking-a-look-under-your-agent-s-hood/) — published 2026-10-09T07:40:00.000Z; evidence version 06de20515b6fbc7e46b2222b4d8ad444ff2f5b84b28229ece20b942063b08336</a:t>
            </a:r>
          </a:p>
          <a:p xmlns:a="http://schemas.openxmlformats.org/drawingml/2006/main">
            <a:r>
              <a:t>9.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One more perspective: Datadog's CPO argues that for AI agents, continuous monitoring and a rapid production-feedback loop matter more than in traditional software, because many behaviors simply cannot be exhaustively verified before deployment.  That is a vendor claim, but the underlying reasoning is worth evaluating on its own terms: agent behavior space is large enough that no pre-deployment test suite closes it.</a:t>
            </a:r>
          </a:p>
          <a:p xmlns:a="http://schemas.openxmlformats.org/drawingml/2006/main">
            <a:r>
              <a:t/>
            </a:r>
          </a:p>
          <a:p xmlns:a="http://schemas.openxmlformats.org/drawingml/2006/main">
            <a:r>
              <a:t>SOURCES (not spoken):</a:t>
            </a:r>
          </a:p>
          <a:p xmlns:a="http://schemas.openxmlformats.org/drawingml/2006/main">
            <a:r>
              <a:t># Sources for piece 02</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2.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3.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4. [Claude Code’s Next Era — Thariq Shihipar, Anthropic at 26:01](https://www.latent.space/p/thariq#t=1561) — published 2026-09-29T01:48:18.000Z; evidence version da4c971ed7898c15212f53583ee6c5611cb70df6fe1bb13a4335cba320559712</a:t>
            </a:r>
          </a:p>
          <a:p xmlns:a="http://schemas.openxmlformats.org/drawingml/2006/main">
            <a:r>
              <a:t>5.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6.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7.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8. [Taking a look under your agent’s hood](https://stackoverflow.blog/2026/10/09/taking-a-look-under-your-agent-s-hood/) — published 2026-10-09T07:40:00.000Z; evidence version 06de20515b6fbc7e46b2222b4d8ad444ff2f5b84b28229ece20b942063b08336</a:t>
            </a:r>
          </a:p>
          <a:p xmlns:a="http://schemas.openxmlformats.org/drawingml/2006/main">
            <a:r>
              <a:t>9.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missing evidence across all of these sources is controlled evaluation under resource constraints. None represents a student developer or small team applying these checks simultaneously with limited infrastructure.</a:t>
            </a:r>
          </a:p>
          <a:p xmlns:a="http://schemas.openxmlformats.org/drawingml/2006/main">
            <a:r>
              <a:t/>
            </a:r>
          </a:p>
          <a:p xmlns:a="http://schemas.openxmlformats.org/drawingml/2006/main">
            <a:r>
              <a:t>The useful question to carry forward is not "did the agent succeed?"—it is "what external state can I read to check whether it did?"</a:t>
            </a:r>
          </a:p>
          <a:p xmlns:a="http://schemas.openxmlformats.org/drawingml/2006/main">
            <a:r>
              <a:t/>
            </a:r>
          </a:p>
          <a:p xmlns:a="http://schemas.openxmlformats.org/drawingml/2006/main">
            <a:r>
              <a:t>SOURCES (not spoken):</a:t>
            </a:r>
          </a:p>
          <a:p xmlns:a="http://schemas.openxmlformats.org/drawingml/2006/main">
            <a:r>
              <a:t># Sources for piece 02</a:t>
            </a:r>
          </a:p>
          <a:p xmlns:a="http://schemas.openxmlformats.org/drawingml/2006/main">
            <a:r>
              <a:t/>
            </a:r>
          </a:p>
          <a:p xmlns:a="http://schemas.openxmlformats.org/drawingml/2006/main">
            <a:r>
              <a:t>As of 2026-10-16.</a:t>
            </a:r>
          </a:p>
          <a:p xmlns:a="http://schemas.openxmlformats.org/drawingml/2006/main">
            <a:r>
              <a:t/>
            </a:r>
          </a:p>
          <a:p xmlns:a="http://schemas.openxmlformats.org/drawingml/2006/main">
            <a:r>
              <a:t>1.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2.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3. [A green exit code is not evidence that the work happened](https://stackoverflow.blog/2026/10/08/a-green-exit-code-is-not-evidence-that-the-work-happened/) — published 2026-10-08T14:00:00.000Z; evidence version 65f027258077bda30b87355a1f3d0db780ec57542f2bfa52395935207a27fc27</a:t>
            </a:r>
          </a:p>
          <a:p xmlns:a="http://schemas.openxmlformats.org/drawingml/2006/main">
            <a:r>
              <a:t>4. [Claude Code’s Next Era — Thariq Shihipar, Anthropic at 26:01](https://www.latent.space/p/thariq#t=1561) — published 2026-09-29T01:48:18.000Z; evidence version da4c971ed7898c15212f53583ee6c5611cb70df6fe1bb13a4335cba320559712</a:t>
            </a:r>
          </a:p>
          <a:p xmlns:a="http://schemas.openxmlformats.org/drawingml/2006/main">
            <a:r>
              <a:t>5.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6.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7.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8. [Taking a look under your agent’s hood](https://stackoverflow.blog/2026/10/09/taking-a-look-under-your-agent-s-hood/) — published 2026-10-09T07:40:00.000Z; evidence version 06de20515b6fbc7e46b2222b4d8ad444ff2f5b84b28229ece20b942063b08336</a:t>
            </a:r>
          </a:p>
          <a:p xmlns:a="http://schemas.openxmlformats.org/drawingml/2006/main">
            <a:r>
              <a:t>9. [ReviewBench: An open benchmark for AI code review](https://github.blog/ai-and-ml/github-copilot/reviewbench-an-open-benchmark-for-ai-code-review/) — published 2026-10-05T15:59:40.000Z; evidence version e77d6bb0f44caefde7e91b39d59bb652056df261c3b5a058ae028f92df882cce</a:t>
            </a:r>
          </a:p>
          <a:p xmlns:a="http://schemas.openxmlformats.org/drawingml/2006/main">
            <a:r>
              <a:t/>
            </a:r>
          </a:p>
          <a:p xmlns:a="http://schemas.openxmlformats.org/drawingml/2006/main">
            <a:r>
              <a:t>Background: AI-generated abstract illustration, built-in image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602769bfb224865"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a8e40dc26d8471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a7ed42e4dc14300"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bf0b9bec4b84ba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4b071afea66414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fedf24b72154fb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D5C349-7631-49A9-9977-A785C54F696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A20FD0C-FB33-40C8-BDAD-913B8B49BF4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084AED11-D46E-41E7-A5DC-A577B774A39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AD35D70D-4DA1-4AA6-8BEB-89B3192B10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D7BAC052-1262-4C96-B2C2-74B35EDC6C45}"/>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E17C7DF8-D773-449B-8893-147E20CCAF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D78B68-DBFD-4053-B0C8-4188BEB586E2}"/>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17E8511-79BC-4DEF-8C18-BBC87795332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5D56070-E579-46CF-8DEF-12124729F6E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CD4A7E1-478C-42E6-A1FB-754545C9DAC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529c20e0fe49ef" /><Relationship Type="http://schemas.openxmlformats.org/officeDocument/2006/relationships/slideLayout" Target="/ppt/slideLayouts/slideLayout1.xml" Id="R6af059a3a1c247dd" /><Relationship Type="http://schemas.openxmlformats.org/officeDocument/2006/relationships/slideLayout" Target="/ppt/slideLayouts/slideLayout2.xml" Id="Rd34b905928f240d4" /><Relationship Type="http://schemas.openxmlformats.org/officeDocument/2006/relationships/slideLayout" Target="/ppt/slideLayouts/slideLayout3.xml" Id="Ra82d1cbbe6884cec" /><Relationship Type="http://schemas.openxmlformats.org/officeDocument/2006/relationships/slideLayout" Target="/ppt/slideLayouts/slideLayout4.xml" Id="R679a52c7fbd240a0" /><Relationship Type="http://schemas.openxmlformats.org/officeDocument/2006/relationships/slideLayout" Target="/ppt/slideLayouts/slideLayout5.xml" Id="R7dd91d7b2661431c" /><Relationship Type="http://schemas.openxmlformats.org/officeDocument/2006/relationships/slideLayout" Target="/ppt/slideLayouts/slideLayout6.xml" Id="R5d0206dced44404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af059a3a1c247dd"/>
    <p:sldLayoutId xmlns:r="http://schemas.openxmlformats.org/officeDocument/2006/relationships" id="2147483650" r:id="Rd34b905928f240d4"/>
    <p:sldLayoutId xmlns:r="http://schemas.openxmlformats.org/officeDocument/2006/relationships" id="2147483651" r:id="Ra82d1cbbe6884cec"/>
    <p:sldLayoutId xmlns:r="http://schemas.openxmlformats.org/officeDocument/2006/relationships" id="2147483652" r:id="R679a52c7fbd240a0"/>
    <p:sldLayoutId xmlns:r="http://schemas.openxmlformats.org/officeDocument/2006/relationships" id="2147483653" r:id="R7dd91d7b2661431c"/>
    <p:sldLayoutId xmlns:r="http://schemas.openxmlformats.org/officeDocument/2006/relationships" id="2147483654" r:id="R5d0206dced44404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dbaead8e0794d48" /><Relationship Type="http://schemas.openxmlformats.org/officeDocument/2006/relationships/image" Target="/ppt/media/image.png" Id="R763e0b89b95b4c55" /><Relationship Type="http://schemas.openxmlformats.org/officeDocument/2006/relationships/notesSlide" Target="/ppt/notesSlides/notesSlide1.xml" Id="Re4b6862d05974ec0"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d459f714b17e4120" /><Relationship Type="http://schemas.openxmlformats.org/officeDocument/2006/relationships/image" Target="/ppt/media/image2.png" Id="R585dc804fa674f30" /><Relationship Type="http://schemas.openxmlformats.org/officeDocument/2006/relationships/notesSlide" Target="/ppt/notesSlides/notesSlide2.xml" Id="R8112f7980bb34ba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633cf2c9d584de4" /><Relationship Type="http://schemas.openxmlformats.org/officeDocument/2006/relationships/image" Target="/ppt/media/image3.png" Id="Rcad7d1fd2b2a46ad" /><Relationship Type="http://schemas.openxmlformats.org/officeDocument/2006/relationships/notesSlide" Target="/ppt/notesSlides/notesSlide3.xml" Id="R7cc3b3fc73a3472a"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70627200121e4351" /><Relationship Type="http://schemas.openxmlformats.org/officeDocument/2006/relationships/image" Target="/ppt/media/image4.png" Id="R2f6f8c5d18384e1c" /><Relationship Type="http://schemas.openxmlformats.org/officeDocument/2006/relationships/notesSlide" Target="/ppt/notesSlides/notesSlide4.xml" Id="R41e1a3346e7244d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ef4c0b567654556" /><Relationship Type="http://schemas.openxmlformats.org/officeDocument/2006/relationships/image" Target="/ppt/media/image5.png" Id="R99e6e3cb94504b10" /><Relationship Type="http://schemas.openxmlformats.org/officeDocument/2006/relationships/notesSlide" Target="/ppt/notesSlides/notesSlide5.xml" Id="R596def6c7cd24829"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24014e5ef31b42f8" /><Relationship Type="http://schemas.openxmlformats.org/officeDocument/2006/relationships/image" Target="/ppt/media/image6.png" Id="R9e28e989d18f4466" /><Relationship Type="http://schemas.openxmlformats.org/officeDocument/2006/relationships/notesSlide" Target="/ppt/notesSlides/notesSlide6.xml" Id="Rf5fcda67004441f0"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a479f81ddbf04af1" /><Relationship Type="http://schemas.openxmlformats.org/officeDocument/2006/relationships/image" Target="/ppt/media/image7.png" Id="R6befed9b51f7412c" /><Relationship Type="http://schemas.openxmlformats.org/officeDocument/2006/relationships/notesSlide" Target="/ppt/notesSlides/notesSlide7.xml" Id="Rb23078ef3c604521" /></Relationships>
</file>

<file path=ppt/slides/slide1.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674624AB-A7A1-4AA3-989B-512545AE850B}"/>
              </a:ext>
            </a:extLst>
          </p:cNvPr>
          <p:cNvPicPr>
            <a:picLocks xmlns:a="http://schemas.openxmlformats.org/drawingml/2006/main" noChangeAspect="1"/>
          </p:cNvPicPr>
          <p:nvPr/>
        </p:nvPicPr>
        <p:blipFill>
          <a:blip xmlns:r="http://schemas.openxmlformats.org/officeDocument/2006/relationships" xmlns:a="http://schemas.openxmlformats.org/drawingml/2006/main" r:embed="R763e0b89b95b4c55"/>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F71540C-6E7E-4970-A294-B48363051236}"/>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81E755DA-F0E7-45E2-BE75-EB7AC38B5D10}"/>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4350" b="1">
                <a:solidFill>
                  <a:srgbClr val="FFFFFF"/>
                </a:solidFill>
                <a:latin typeface="Arial"/>
                <a:ea typeface="Arial"/>
                <a:cs typeface="Arial"/>
              </a:defRPr>
            </a:defPPr>
          </a:lstStyle>
          <a:p xmlns:a="http://schemas.openxmlformats.org/drawingml/2006/main">
            <a:pPr>
              <a:defRPr sz="4350" b="1">
                <a:solidFill>
                  <a:srgbClr val="FFFFFF"/>
                </a:solidFill>
                <a:latin typeface="Arial"/>
                <a:ea typeface="Arial"/>
                <a:cs typeface="Arial"/>
              </a:defRPr>
            </a:pPr>
            <a:r>
              <a:rPr sz="4350" b="1">
                <a:solidFill>
                  <a:srgbClr val="FFFFFF"/>
                </a:solidFill>
                <a:latin typeface="Arial"/>
                <a:ea typeface="Arial"/>
                <a:cs typeface="Arial"/>
              </a:rPr>
              <a:t>What AI agent verification actually proves</a:t>
            </a:r>
          </a:p>
        </p:txBody>
      </p:sp>
      <p:sp>
        <p:nvSpPr>
          <p:cNvPr id="4" name="">
            <a:extLst xmlns:a="http://schemas.openxmlformats.org/drawingml/2006/main">
              <a:ext uri="{FF2B5EF4-FFF2-40B4-BE49-F238E27FC236}">
                <a16:creationId xmlns:a16="http://schemas.microsoft.com/office/drawing/2014/main" id="{5A4BCDFA-B5F1-4909-B26F-064EBE4E388F}"/>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A completion signal leaves several questions open</a:t>
            </a:r>
          </a:p>
        </p:txBody>
      </p:sp>
      <p:sp>
        <p:nvSpPr>
          <p:cNvPr id="5" name="">
            <a:extLst xmlns:a="http://schemas.openxmlformats.org/drawingml/2006/main">
              <a:ext uri="{FF2B5EF4-FFF2-40B4-BE49-F238E27FC236}">
                <a16:creationId xmlns:a16="http://schemas.microsoft.com/office/drawing/2014/main" id="{FB694805-8A05-4F3B-8AAF-0F431D41DB82}"/>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Agent Engineering Brief — 02</a:t>
            </a:r>
          </a:p>
        </p:txBody>
      </p:sp>
      <p:sp>
        <p:nvSpPr>
          <p:cNvPr id="6" name="">
            <a:extLst xmlns:a="http://schemas.openxmlformats.org/drawingml/2006/main">
              <a:ext uri="{FF2B5EF4-FFF2-40B4-BE49-F238E27FC236}">
                <a16:creationId xmlns:a16="http://schemas.microsoft.com/office/drawing/2014/main" id="{A6704617-0C07-48FE-81C1-8659E19C3F07}"/>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05417F51-01B5-4B95-867D-38156AA2D837}"/>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01</a:t>
            </a:r>
          </a:p>
        </p:txBody>
      </p:sp>
    </p:spTree>
    <p:extLst>
      <p:ext uri="{BB962C8B-B14F-4D97-AF65-F5344CB8AC3E}">
        <p14:creationId xmlns:p14="http://schemas.microsoft.com/office/powerpoint/2010/main" val="2068899803"/>
      </p:ext>
    </p:extLst>
  </p:cSld>
</p:sld>
</file>

<file path=ppt/slides/slide2.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83AB7E1B-C744-461B-AA60-4A2ADDE8D329}"/>
              </a:ext>
            </a:extLst>
          </p:cNvPr>
          <p:cNvPicPr>
            <a:picLocks xmlns:a="http://schemas.openxmlformats.org/drawingml/2006/main" noChangeAspect="1"/>
          </p:cNvPicPr>
          <p:nvPr/>
        </p:nvPicPr>
        <p:blipFill>
          <a:blip xmlns:r="http://schemas.openxmlformats.org/officeDocument/2006/relationships" xmlns:a="http://schemas.openxmlformats.org/drawingml/2006/main" r:embed="R585dc804fa674f3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189B78A0-2891-4D51-9190-1B094423B0D1}"/>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DED62791-B627-49E7-AD08-1E72FC42213C}"/>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Completion signals</a:t>
            </a:r>
          </a:p>
        </p:txBody>
      </p:sp>
      <p:sp>
        <p:nvSpPr>
          <p:cNvPr id="4" name="">
            <a:extLst xmlns:a="http://schemas.openxmlformats.org/drawingml/2006/main">
              <a:ext uri="{FF2B5EF4-FFF2-40B4-BE49-F238E27FC236}">
                <a16:creationId xmlns:a16="http://schemas.microsoft.com/office/drawing/2014/main" id="{2A727582-C4DE-4DA2-80DD-A18813CFE685}"/>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Some loops report success without checking results</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An older research case illustrates a silent task failure</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This does not describe every current agent workflow</a:t>
            </a:r>
          </a:p>
        </p:txBody>
      </p:sp>
      <p:sp>
        <p:nvSpPr>
          <p:cNvPr id="5" name="">
            <a:extLst xmlns:a="http://schemas.openxmlformats.org/drawingml/2006/main">
              <a:ext uri="{FF2B5EF4-FFF2-40B4-BE49-F238E27FC236}">
                <a16:creationId xmlns:a16="http://schemas.microsoft.com/office/drawing/2014/main" id="{19A9F42A-6D33-4712-9423-7E343D5F5789}"/>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Source: Stack Overflow; older research discussed in a recent article</a:t>
            </a:r>
          </a:p>
        </p:txBody>
      </p:sp>
      <p:sp>
        <p:nvSpPr>
          <p:cNvPr id="6" name="">
            <a:extLst xmlns:a="http://schemas.openxmlformats.org/drawingml/2006/main">
              <a:ext uri="{FF2B5EF4-FFF2-40B4-BE49-F238E27FC236}">
                <a16:creationId xmlns:a16="http://schemas.microsoft.com/office/drawing/2014/main" id="{836C8AE1-713A-40C2-A305-F457EA6BB508}"/>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FF13D248-3FCC-4EF8-918C-46F3C4DA3C60}"/>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02</a:t>
            </a:r>
          </a:p>
        </p:txBody>
      </p:sp>
    </p:spTree>
    <p:extLst>
      <p:ext uri="{BB962C8B-B14F-4D97-AF65-F5344CB8AC3E}">
        <p14:creationId xmlns:p14="http://schemas.microsoft.com/office/powerpoint/2010/main" val="495683067"/>
      </p:ext>
    </p:extLst>
  </p:cSld>
</p:sld>
</file>

<file path=ppt/slides/slide3.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718FEB7E-4E67-40B7-8E34-E3D5077CCF89}"/>
              </a:ext>
            </a:extLst>
          </p:cNvPr>
          <p:cNvPicPr>
            <a:picLocks xmlns:a="http://schemas.openxmlformats.org/drawingml/2006/main" noChangeAspect="1"/>
          </p:cNvPicPr>
          <p:nvPr/>
        </p:nvPicPr>
        <p:blipFill>
          <a:blip xmlns:r="http://schemas.openxmlformats.org/officeDocument/2006/relationships" xmlns:a="http://schemas.openxmlformats.org/drawingml/2006/main" r:embed="Rcad7d1fd2b2a46a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428B4D2-6EC7-4E31-8025-16263D0B0F38}"/>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76FD933E-60CF-416C-9A6F-A9FEA80B66DD}"/>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Independent result checks</a:t>
            </a:r>
          </a:p>
        </p:txBody>
      </p:sp>
      <p:sp>
        <p:nvSpPr>
          <p:cNvPr id="4" name="">
            <a:extLst xmlns:a="http://schemas.openxmlformats.org/drawingml/2006/main">
              <a:ext uri="{FF2B5EF4-FFF2-40B4-BE49-F238E27FC236}">
                <a16:creationId xmlns:a16="http://schemas.microsoft.com/office/drawing/2014/main" id="{FCCC0954-E343-4B36-9E33-7D210447938F}"/>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Does the intended row, file or branch exist?</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Read state outside the agent’s self-report</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Verify the work product</a:t>
            </a:r>
          </a:p>
        </p:txBody>
      </p:sp>
      <p:sp>
        <p:nvSpPr>
          <p:cNvPr id="5" name="">
            <a:extLst xmlns:a="http://schemas.openxmlformats.org/drawingml/2006/main">
              <a:ext uri="{FF2B5EF4-FFF2-40B4-BE49-F238E27FC236}">
                <a16:creationId xmlns:a16="http://schemas.microsoft.com/office/drawing/2014/main" id="{1D4E82CC-7789-4F7A-8E59-3B5DF87B81BB}"/>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Source: Stack Overflow contributor’s guidance</a:t>
            </a:r>
          </a:p>
        </p:txBody>
      </p:sp>
      <p:sp>
        <p:nvSpPr>
          <p:cNvPr id="6" name="">
            <a:extLst xmlns:a="http://schemas.openxmlformats.org/drawingml/2006/main">
              <a:ext uri="{FF2B5EF4-FFF2-40B4-BE49-F238E27FC236}">
                <a16:creationId xmlns:a16="http://schemas.microsoft.com/office/drawing/2014/main" id="{03367D30-EFC8-47DA-8CF7-3E97A4CC34B4}"/>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79F67635-A9E4-4AE5-8018-A066A4FAB651}"/>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03</a:t>
            </a:r>
          </a:p>
        </p:txBody>
      </p:sp>
    </p:spTree>
    <p:extLst>
      <p:ext uri="{BB962C8B-B14F-4D97-AF65-F5344CB8AC3E}">
        <p14:creationId xmlns:p14="http://schemas.microsoft.com/office/powerpoint/2010/main" val="650764927"/>
      </p:ext>
    </p:extLst>
  </p:cSld>
</p:sld>
</file>

<file path=ppt/slides/slide4.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3C7890B-8EC3-4A98-86DA-E4D7221CA577}"/>
              </a:ext>
            </a:extLst>
          </p:cNvPr>
          <p:cNvPicPr>
            <a:picLocks xmlns:a="http://schemas.openxmlformats.org/drawingml/2006/main" noChangeAspect="1"/>
          </p:cNvPicPr>
          <p:nvPr/>
        </p:nvPicPr>
        <p:blipFill>
          <a:blip xmlns:r="http://schemas.openxmlformats.org/officeDocument/2006/relationships" xmlns:a="http://schemas.openxmlformats.org/drawingml/2006/main" r:embed="R2f6f8c5d18384e1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52A0BEBB-B337-4E89-95DE-432B5D06678B}"/>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7D1C6FA8-9990-4B36-98C1-D9C97F937EDA}"/>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Decision notes</a:t>
            </a:r>
          </a:p>
        </p:txBody>
      </p:sp>
      <p:sp>
        <p:nvSpPr>
          <p:cNvPr id="4" name="">
            <a:extLst xmlns:a="http://schemas.openxmlformats.org/drawingml/2006/main">
              <a:ext uri="{FF2B5EF4-FFF2-40B4-BE49-F238E27FC236}">
                <a16:creationId xmlns:a16="http://schemas.microsoft.com/office/drawing/2014/main" id="{B5556BED-4DF4-4C5F-87EA-1F3B3FA7362C}"/>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Record alternatives considered and rejected</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Use the notes to identify a mistaken choice</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Combine explanation with independent result checks</a:t>
            </a:r>
          </a:p>
        </p:txBody>
      </p:sp>
      <p:sp>
        <p:nvSpPr>
          <p:cNvPr id="5" name="">
            <a:extLst xmlns:a="http://schemas.openxmlformats.org/drawingml/2006/main">
              <a:ext uri="{FF2B5EF4-FFF2-40B4-BE49-F238E27FC236}">
                <a16:creationId xmlns:a16="http://schemas.microsoft.com/office/drawing/2014/main" id="{06DA772C-4898-4727-955A-B311FBB83CDB}"/>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Source: Latent Space interview; combined use is editorial inference</a:t>
            </a:r>
          </a:p>
        </p:txBody>
      </p:sp>
      <p:sp>
        <p:nvSpPr>
          <p:cNvPr id="6" name="">
            <a:extLst xmlns:a="http://schemas.openxmlformats.org/drawingml/2006/main">
              <a:ext uri="{FF2B5EF4-FFF2-40B4-BE49-F238E27FC236}">
                <a16:creationId xmlns:a16="http://schemas.microsoft.com/office/drawing/2014/main" id="{B798C739-E9B7-4760-9DA3-C51D3476C0BE}"/>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ABC14F01-0FFD-495B-A4C0-9B5BD939CAD7}"/>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04</a:t>
            </a:r>
          </a:p>
        </p:txBody>
      </p:sp>
    </p:spTree>
    <p:extLst>
      <p:ext uri="{BB962C8B-B14F-4D97-AF65-F5344CB8AC3E}">
        <p14:creationId xmlns:p14="http://schemas.microsoft.com/office/powerpoint/2010/main" val="1766449827"/>
      </p:ext>
    </p:extLst>
  </p:cSld>
</p:sld>
</file>

<file path=ppt/slides/slide5.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11EC5807-7B03-4A90-AF0D-6FEBD6F9857D}"/>
              </a:ext>
            </a:extLst>
          </p:cNvPr>
          <p:cNvPicPr>
            <a:picLocks xmlns:a="http://schemas.openxmlformats.org/drawingml/2006/main" noChangeAspect="1"/>
          </p:cNvPicPr>
          <p:nvPr/>
        </p:nvPicPr>
        <p:blipFill>
          <a:blip xmlns:r="http://schemas.openxmlformats.org/officeDocument/2006/relationships" xmlns:a="http://schemas.openxmlformats.org/drawingml/2006/main" r:embed="R99e6e3cb94504b10"/>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8FE07653-80ED-4CA4-A8CE-1AEE97A8BCAE}"/>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8290128F-7EC8-48F4-9CBF-9B2B093ECC14}"/>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ReviewBench’s evidence</a:t>
            </a:r>
          </a:p>
        </p:txBody>
      </p:sp>
      <p:sp>
        <p:nvSpPr>
          <p:cNvPr id="4" name="">
            <a:extLst xmlns:a="http://schemas.openxmlformats.org/drawingml/2006/main">
              <a:ext uri="{FF2B5EF4-FFF2-40B4-BE49-F238E27FC236}">
                <a16:creationId xmlns:a16="http://schemas.microsoft.com/office/drawing/2014/main" id="{FDE2C378-300A-422B-A804-D14574CE93C8}"/>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219 pull requests across 19 languages</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GitHub reports 96.6% agreement in an internal audit</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Offline performance still needs live validation</a:t>
            </a:r>
          </a:p>
        </p:txBody>
      </p:sp>
      <p:sp>
        <p:nvSpPr>
          <p:cNvPr id="5" name="">
            <a:extLst xmlns:a="http://schemas.openxmlformats.org/drawingml/2006/main">
              <a:ext uri="{FF2B5EF4-FFF2-40B4-BE49-F238E27FC236}">
                <a16:creationId xmlns:a16="http://schemas.microsoft.com/office/drawing/2014/main" id="{92EB2CD5-DCA0-4F11-A389-44AD5342191B}"/>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Source: GitHub’s ReviewBench announcement; vendor claims</a:t>
            </a:r>
          </a:p>
        </p:txBody>
      </p:sp>
      <p:sp>
        <p:nvSpPr>
          <p:cNvPr id="6" name="">
            <a:extLst xmlns:a="http://schemas.openxmlformats.org/drawingml/2006/main">
              <a:ext uri="{FF2B5EF4-FFF2-40B4-BE49-F238E27FC236}">
                <a16:creationId xmlns:a16="http://schemas.microsoft.com/office/drawing/2014/main" id="{E2A3D12A-B063-4715-8443-2766BD42D13B}"/>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473182CA-ED58-48F7-A407-6C9234F0FEDE}"/>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05</a:t>
            </a:r>
          </a:p>
        </p:txBody>
      </p:sp>
    </p:spTree>
    <p:extLst>
      <p:ext uri="{BB962C8B-B14F-4D97-AF65-F5344CB8AC3E}">
        <p14:creationId xmlns:p14="http://schemas.microsoft.com/office/powerpoint/2010/main" val="173461387"/>
      </p:ext>
    </p:extLst>
  </p:cSld>
</p:sld>
</file>

<file path=ppt/slides/slide6.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A134542B-05B1-4E23-81B6-78D2683ACB08}"/>
              </a:ext>
            </a:extLst>
          </p:cNvPr>
          <p:cNvPicPr>
            <a:picLocks xmlns:a="http://schemas.openxmlformats.org/drawingml/2006/main" noChangeAspect="1"/>
          </p:cNvPicPr>
          <p:nvPr/>
        </p:nvPicPr>
        <p:blipFill>
          <a:blip xmlns:r="http://schemas.openxmlformats.org/officeDocument/2006/relationships" xmlns:a="http://schemas.openxmlformats.org/drawingml/2006/main" r:embed="R9e28e989d18f4466"/>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A4E60B9B-B82E-4474-A986-866736294A6D}"/>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938426F6-F8BC-4351-A807-8FC4D7159D09}"/>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Production feedback</a:t>
            </a:r>
          </a:p>
        </p:txBody>
      </p:sp>
      <p:sp>
        <p:nvSpPr>
          <p:cNvPr id="4" name="">
            <a:extLst xmlns:a="http://schemas.openxmlformats.org/drawingml/2006/main">
              <a:ext uri="{FF2B5EF4-FFF2-40B4-BE49-F238E27FC236}">
                <a16:creationId xmlns:a16="http://schemas.microsoft.com/office/drawing/2014/main" id="{7B5761AC-125F-4E96-948A-FEEA65522F9E}"/>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Datadog’s CPO argues for continuous monitoring</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Pre-deployment tests cannot cover every behavior</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This is an industry perspective, not a controlled study</a:t>
            </a:r>
          </a:p>
        </p:txBody>
      </p:sp>
      <p:sp>
        <p:nvSpPr>
          <p:cNvPr id="5" name="">
            <a:extLst xmlns:a="http://schemas.openxmlformats.org/drawingml/2006/main">
              <a:ext uri="{FF2B5EF4-FFF2-40B4-BE49-F238E27FC236}">
                <a16:creationId xmlns:a16="http://schemas.microsoft.com/office/drawing/2014/main" id="{74DEA2A9-8000-4EFB-A27A-F878D90F9083}"/>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Source: Stack Overflow interview with Datadog’s CPO</a:t>
            </a:r>
          </a:p>
        </p:txBody>
      </p:sp>
      <p:sp>
        <p:nvSpPr>
          <p:cNvPr id="6" name="">
            <a:extLst xmlns:a="http://schemas.openxmlformats.org/drawingml/2006/main">
              <a:ext uri="{FF2B5EF4-FFF2-40B4-BE49-F238E27FC236}">
                <a16:creationId xmlns:a16="http://schemas.microsoft.com/office/drawing/2014/main" id="{76EB5294-C768-41C3-8A29-07672C43B3A8}"/>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9C22ECE6-8E45-4928-8402-9CAFCBCDE3CA}"/>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06</a:t>
            </a:r>
          </a:p>
        </p:txBody>
      </p:sp>
    </p:spTree>
    <p:extLst>
      <p:ext uri="{BB962C8B-B14F-4D97-AF65-F5344CB8AC3E}">
        <p14:creationId xmlns:p14="http://schemas.microsoft.com/office/powerpoint/2010/main" val="531701241"/>
      </p:ext>
    </p:extLst>
  </p:cSld>
</p:sld>
</file>

<file path=ppt/slides/slide7.xml><?xml version="1.0" encoding="utf-8"?>
<p:sld xmlns:p="http://schemas.openxmlformats.org/presentationml/2006/main">
  <p:cSld>
    <p:bg>
      <p:bgPr>
        <a:solidFill xmlns:a="http://schemas.openxmlformats.org/drawingml/2006/main">
          <a:srgbClr val="06162B"/>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56948D59-0A37-4BCA-A8B5-C453B639475F}"/>
              </a:ext>
            </a:extLst>
          </p:cNvPr>
          <p:cNvPicPr>
            <a:picLocks xmlns:a="http://schemas.openxmlformats.org/drawingml/2006/main" noChangeAspect="1"/>
          </p:cNvPicPr>
          <p:nvPr/>
        </p:nvPicPr>
        <p:blipFill>
          <a:blip xmlns:r="http://schemas.openxmlformats.org/officeDocument/2006/relationships" xmlns:a="http://schemas.openxmlformats.org/drawingml/2006/main" r:embed="R6befed9b51f7412c"/>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4D0F41C7-585F-4550-B595-95D4DDDC1573}"/>
              </a:ext>
            </a:extLst>
          </p:cNvPr>
          <p:cNvSpPr>
            <a:spLocks xmlns:a="http://schemas.openxmlformats.org/drawingml/2006/main" noGrp="1"/>
          </p:cNvSpPr>
          <p:nvPr/>
        </p:nvSpPr>
        <p:spPr>
          <a:xfrm xmlns:a="http://schemas.openxmlformats.org/drawingml/2006/main">
            <a:off x="685800" y="495300"/>
            <a:ext cx="857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650" b="1">
                <a:solidFill>
                  <a:srgbClr val="67D8EF"/>
                </a:solidFill>
                <a:latin typeface="Arial"/>
                <a:ea typeface="Arial"/>
                <a:cs typeface="Arial"/>
              </a:defRPr>
            </a:defPPr>
          </a:lstStyle>
          <a:p xmlns:a="http://schemas.openxmlformats.org/drawingml/2006/main">
            <a:pPr>
              <a:defRPr sz="1650" b="1">
                <a:solidFill>
                  <a:srgbClr val="67D8EF"/>
                </a:solidFill>
                <a:latin typeface="Arial"/>
                <a:ea typeface="Arial"/>
                <a:cs typeface="Arial"/>
              </a:defRPr>
            </a:pPr>
            <a:r>
              <a:rPr sz="1650" b="1">
                <a:solidFill>
                  <a:srgbClr val="67D8EF"/>
                </a:solidFill>
                <a:latin typeface="Arial"/>
                <a:ea typeface="Arial"/>
                <a:cs typeface="Arial"/>
              </a:rPr>
              <a:t>AGENT ENGINEERING BRIEF</a:t>
            </a:r>
          </a:p>
        </p:txBody>
      </p:sp>
      <p:sp>
        <p:nvSpPr>
          <p:cNvPr id="3" name="">
            <a:extLst xmlns:a="http://schemas.openxmlformats.org/drawingml/2006/main">
              <a:ext uri="{FF2B5EF4-FFF2-40B4-BE49-F238E27FC236}">
                <a16:creationId xmlns:a16="http://schemas.microsoft.com/office/drawing/2014/main" id="{D5CC2B7C-642A-4E41-848E-CE1A54F5D81B}"/>
              </a:ext>
            </a:extLst>
          </p:cNvPr>
          <p:cNvSpPr>
            <a:spLocks xmlns:a="http://schemas.openxmlformats.org/drawingml/2006/main" noGrp="1"/>
          </p:cNvSpPr>
          <p:nvPr/>
        </p:nvSpPr>
        <p:spPr>
          <a:xfrm xmlns:a="http://schemas.openxmlformats.org/drawingml/2006/main">
            <a:off x="685800" y="1314450"/>
            <a:ext cx="8858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3750" b="1">
                <a:solidFill>
                  <a:srgbClr val="FFFFFF"/>
                </a:solidFill>
                <a:latin typeface="Arial"/>
                <a:ea typeface="Arial"/>
                <a:cs typeface="Arial"/>
              </a:defRPr>
            </a:defPPr>
          </a:lstStyle>
          <a:p xmlns:a="http://schemas.openxmlformats.org/drawingml/2006/main">
            <a:pPr>
              <a:defRPr sz="3750" b="1">
                <a:solidFill>
                  <a:srgbClr val="FFFFFF"/>
                </a:solidFill>
                <a:latin typeface="Arial"/>
                <a:ea typeface="Arial"/>
                <a:cs typeface="Arial"/>
              </a:defRPr>
            </a:pPr>
            <a:r>
              <a:rPr sz="3750" b="1">
                <a:solidFill>
                  <a:srgbClr val="FFFFFF"/>
                </a:solidFill>
                <a:latin typeface="Arial"/>
                <a:ea typeface="Arial"/>
                <a:cs typeface="Arial"/>
              </a:rPr>
              <a:t>What external state can you read?</a:t>
            </a:r>
          </a:p>
        </p:txBody>
      </p:sp>
      <p:sp>
        <p:nvSpPr>
          <p:cNvPr id="4" name="">
            <a:extLst xmlns:a="http://schemas.openxmlformats.org/drawingml/2006/main">
              <a:ext uri="{FF2B5EF4-FFF2-40B4-BE49-F238E27FC236}">
                <a16:creationId xmlns:a16="http://schemas.microsoft.com/office/drawing/2014/main" id="{AF192A65-8B54-4EB6-9FED-06A9C5DB43F7}"/>
              </a:ext>
            </a:extLst>
          </p:cNvPr>
          <p:cNvSpPr>
            <a:spLocks xmlns:a="http://schemas.openxmlformats.org/drawingml/2006/main" noGrp="1"/>
          </p:cNvSpPr>
          <p:nvPr/>
        </p:nvSpPr>
        <p:spPr>
          <a:xfrm xmlns:a="http://schemas.openxmlformats.org/drawingml/2006/main">
            <a:off x="685800" y="3143250"/>
            <a:ext cx="8858250" cy="2143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2400" b="0">
                <a:solidFill>
                  <a:srgbClr val="DDE9F2"/>
                </a:solidFill>
                <a:latin typeface="Arial"/>
                <a:ea typeface="Arial"/>
                <a:cs typeface="Arial"/>
              </a:defRPr>
            </a:defPPr>
          </a:lstStyle>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Choose evidence that checks the intended outcome</a:t>
            </a:r>
          </a:p>
          <a:p xmlns:a="http://schemas.openxmlformats.org/drawingml/2006/main">
            <a:pPr>
              <a:defRPr sz="2400" b="0">
                <a:solidFill>
                  <a:srgbClr val="DDE9F2"/>
                </a:solidFill>
                <a:latin typeface="Arial"/>
                <a:ea typeface="Arial"/>
                <a:cs typeface="Arial"/>
              </a:defRPr>
            </a:pPr>
            <a:r>
              <a:rPr sz="2400" b="0">
                <a:solidFill>
                  <a:srgbClr val="DDE9F2"/>
                </a:solidFill>
                <a:latin typeface="Arial"/>
                <a:ea typeface="Arial"/>
                <a:cs typeface="Arial"/>
              </a:rPr>
              <a:t>Small-team costs of combining checks remain unknown</a:t>
            </a:r>
          </a:p>
        </p:txBody>
      </p:sp>
      <p:sp>
        <p:nvSpPr>
          <p:cNvPr id="5" name="">
            <a:extLst xmlns:a="http://schemas.openxmlformats.org/drawingml/2006/main">
              <a:ext uri="{FF2B5EF4-FFF2-40B4-BE49-F238E27FC236}">
                <a16:creationId xmlns:a16="http://schemas.microsoft.com/office/drawing/2014/main" id="{F4CA5FB3-5718-4B1B-8E6E-DD147F20C0B7}"/>
              </a:ext>
            </a:extLst>
          </p:cNvPr>
          <p:cNvSpPr>
            <a:spLocks xmlns:a="http://schemas.openxmlformats.org/drawingml/2006/main" noGrp="1"/>
          </p:cNvSpPr>
          <p:nvPr/>
        </p:nvSpPr>
        <p:spPr>
          <a:xfrm xmlns:a="http://schemas.openxmlformats.org/drawingml/2006/main">
            <a:off x="685800" y="5810250"/>
            <a:ext cx="1009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425" b="0">
                <a:solidFill>
                  <a:srgbClr val="B1C6DB"/>
                </a:solidFill>
                <a:latin typeface="Arial"/>
                <a:ea typeface="Arial"/>
                <a:cs typeface="Arial"/>
              </a:defRPr>
            </a:defPPr>
          </a:lstStyle>
          <a:p xmlns:a="http://schemas.openxmlformats.org/drawingml/2006/main">
            <a:pPr>
              <a:defRPr sz="1425" b="0">
                <a:solidFill>
                  <a:srgbClr val="B1C6DB"/>
                </a:solidFill>
                <a:latin typeface="Arial"/>
                <a:ea typeface="Arial"/>
                <a:cs typeface="Arial"/>
              </a:defRPr>
            </a:pPr>
            <a:r>
              <a:rPr sz="1425" b="0">
                <a:solidFill>
                  <a:srgbClr val="B1C6DB"/>
                </a:solidFill>
                <a:latin typeface="Arial"/>
                <a:ea typeface="Arial"/>
                <a:cs typeface="Arial"/>
              </a:rPr>
              <a:t>Editorial inference; limitations of this evidence set</a:t>
            </a:r>
          </a:p>
        </p:txBody>
      </p:sp>
      <p:sp>
        <p:nvSpPr>
          <p:cNvPr id="6" name="">
            <a:extLst xmlns:a="http://schemas.openxmlformats.org/drawingml/2006/main">
              <a:ext uri="{FF2B5EF4-FFF2-40B4-BE49-F238E27FC236}">
                <a16:creationId xmlns:a16="http://schemas.microsoft.com/office/drawing/2014/main" id="{75EA9BE7-06E9-4CED-867D-F4992001D832}"/>
              </a:ext>
            </a:extLst>
          </p:cNvPr>
          <p:cNvSpPr>
            <a:spLocks xmlns:a="http://schemas.openxmlformats.org/drawingml/2006/main" noGrp="1"/>
          </p:cNvSpPr>
          <p:nvPr/>
        </p:nvSpPr>
        <p:spPr>
          <a:xfrm xmlns:a="http://schemas.openxmlformats.org/drawingml/2006/main">
            <a:off x="685800" y="6334125"/>
            <a:ext cx="85725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As of October 16, 2026</a:t>
            </a:r>
          </a:p>
        </p:txBody>
      </p:sp>
      <p:sp>
        <p:nvSpPr>
          <p:cNvPr id="7" name="">
            <a:extLst xmlns:a="http://schemas.openxmlformats.org/drawingml/2006/main">
              <a:ext uri="{FF2B5EF4-FFF2-40B4-BE49-F238E27FC236}">
                <a16:creationId xmlns:a16="http://schemas.microsoft.com/office/drawing/2014/main" id="{5C1F358E-CCAF-4920-A298-32A5F2C9C421}"/>
              </a:ext>
            </a:extLst>
          </p:cNvPr>
          <p:cNvSpPr>
            <a:spLocks xmlns:a="http://schemas.openxmlformats.org/drawingml/2006/main" noGrp="1"/>
          </p:cNvSpPr>
          <p:nvPr/>
        </p:nvSpPr>
        <p:spPr>
          <a:xfrm xmlns:a="http://schemas.openxmlformats.org/drawingml/2006/main">
            <a:off x="11144250" y="6334125"/>
            <a:ext cx="47625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lstStyle xmlns:a="http://schemas.openxmlformats.org/drawingml/2006/main">
            <a:defPPr>
              <a:defRPr sz="1275" b="0">
                <a:solidFill>
                  <a:srgbClr val="91A8BF"/>
                </a:solidFill>
                <a:latin typeface="Arial"/>
                <a:ea typeface="Arial"/>
                <a:cs typeface="Arial"/>
              </a:defRPr>
            </a:defPPr>
          </a:lstStyle>
          <a:p xmlns:a="http://schemas.openxmlformats.org/drawingml/2006/main">
            <a:pPr>
              <a:defRPr sz="1275" b="0">
                <a:solidFill>
                  <a:srgbClr val="91A8BF"/>
                </a:solidFill>
                <a:latin typeface="Arial"/>
                <a:ea typeface="Arial"/>
                <a:cs typeface="Arial"/>
              </a:defRPr>
            </a:pPr>
            <a:r>
              <a:rPr sz="1275" b="0">
                <a:solidFill>
                  <a:srgbClr val="91A8BF"/>
                </a:solidFill>
                <a:latin typeface="Arial"/>
                <a:ea typeface="Arial"/>
                <a:cs typeface="Arial"/>
              </a:rPr>
              <a:t>07</a:t>
            </a:r>
          </a:p>
        </p:txBody>
      </p:sp>
    </p:spTree>
    <p:extLst>
      <p:ext uri="{BB962C8B-B14F-4D97-AF65-F5344CB8AC3E}">
        <p14:creationId xmlns:p14="http://schemas.microsoft.com/office/powerpoint/2010/main" val="10759505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2026-10-16T14:37:50.1670000Z</dcterms:created>
  <dcterms:modified xsi:type="dcterms:W3CDTF">2026-10-16T14:37:50.1670000Z</dcterms:modified>
</coreProperties>
</file>