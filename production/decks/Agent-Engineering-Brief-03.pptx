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dba830864824480" /><Relationship Type="http://schemas.openxmlformats.org/officeDocument/2006/relationships/extended-properties" Target="/docProps/app.xml" Id="R55d2bb0f13154fb7" /><Relationship Type="http://schemas.openxmlformats.org/officeDocument/2006/relationships/officeDocument" Target="/ppt/presentation.xml" Id="Rdd83b107b3dd43ea" /></Relationships>
</file>

<file path=ppt/presentation.xml><?xml version="1.0" encoding="utf-8"?>
<p:presentation xmlns:p="http://schemas.openxmlformats.org/presentationml/2006/main">
  <p:sldMasterIdLst>
    <p:sldMasterId xmlns:r="http://schemas.openxmlformats.org/officeDocument/2006/relationships" id="2147483648" r:id="R619709ecb2334f3a"/>
  </p:sldMasterIdLst>
  <p:notesMasterIdLst>
    <p:notesMasterId xmlns:r="http://schemas.openxmlformats.org/officeDocument/2006/relationships" r:id="R1b2925e4bb9c4831"/>
  </p:notesMasterIdLst>
  <p:sldIdLst>
    <p:sldId xmlns:r="http://schemas.openxmlformats.org/officeDocument/2006/relationships" id="256" r:id="R74c56be76cb44be7"/>
    <p:sldId xmlns:r="http://schemas.openxmlformats.org/officeDocument/2006/relationships" id="257" r:id="Rdf65942f09084d15"/>
    <p:sldId xmlns:r="http://schemas.openxmlformats.org/officeDocument/2006/relationships" id="258" r:id="Rbd5876e1bdc7436f"/>
    <p:sldId xmlns:r="http://schemas.openxmlformats.org/officeDocument/2006/relationships" id="259" r:id="R603ec8611f864e66"/>
    <p:sldId xmlns:r="http://schemas.openxmlformats.org/officeDocument/2006/relationships" id="260" r:id="Rb3ee6b664bf04b03"/>
    <p:sldId xmlns:r="http://schemas.openxmlformats.org/officeDocument/2006/relationships" id="261" r:id="R51b553f2cbde4cca"/>
    <p:sldId xmlns:r="http://schemas.openxmlformats.org/officeDocument/2006/relationships" id="262" r:id="R53f6e7f2d72a41f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e3fbaeda594dff" /><Relationship Type="http://schemas.openxmlformats.org/officeDocument/2006/relationships/slideMaster" Target="/ppt/slideMasters/slideMaster1.xml" Id="R619709ecb2334f3a" /><Relationship Type="http://schemas.openxmlformats.org/officeDocument/2006/relationships/notesMaster" Target="/ppt/notesMasters/notesMaster1.xml" Id="R1b2925e4bb9c4831" /><Relationship Type="http://schemas.openxmlformats.org/officeDocument/2006/relationships/presProps" Target="/ppt/presProps.xml" Id="R15187baa17754813" /><Relationship Type="http://schemas.openxmlformats.org/officeDocument/2006/relationships/tableStyles" Target="/ppt/tableStyles.xml" Id="R9613ad82376e4daa" /><Relationship Type="http://schemas.openxmlformats.org/officeDocument/2006/relationships/slide" Target="/ppt/slides/slide1.xml" Id="R74c56be76cb44be7" /><Relationship Type="http://schemas.openxmlformats.org/officeDocument/2006/relationships/slide" Target="/ppt/slides/slide2.xml" Id="Rdf65942f09084d15" /><Relationship Type="http://schemas.openxmlformats.org/officeDocument/2006/relationships/slide" Target="/ppt/slides/slide3.xml" Id="Rbd5876e1bdc7436f" /><Relationship Type="http://schemas.openxmlformats.org/officeDocument/2006/relationships/slide" Target="/ppt/slides/slide4.xml" Id="R603ec8611f864e66" /><Relationship Type="http://schemas.openxmlformats.org/officeDocument/2006/relationships/slide" Target="/ppt/slides/slide5.xml" Id="Rb3ee6b664bf04b03" /><Relationship Type="http://schemas.openxmlformats.org/officeDocument/2006/relationships/slide" Target="/ppt/slides/slide6.xml" Id="R51b553f2cbde4cca" /><Relationship Type="http://schemas.openxmlformats.org/officeDocument/2006/relationships/slide" Target="/ppt/slides/slide7.xml" Id="R53f6e7f2d72a41f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500c21de214a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16eb22977d4ad7" /><Relationship Type="http://schemas.openxmlformats.org/officeDocument/2006/relationships/notesMaster" Target="/ppt/notesMasters/notesMaster1.xml" Id="R9b89bd230354487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71f1b303b74b83" /><Relationship Type="http://schemas.openxmlformats.org/officeDocument/2006/relationships/notesMaster" Target="/ppt/notesMasters/notesMaster1.xml" Id="R7135131eeaae44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6d6cc8c66e4491" /><Relationship Type="http://schemas.openxmlformats.org/officeDocument/2006/relationships/notesMaster" Target="/ppt/notesMasters/notesMaster1.xml" Id="Rb14839f4743d4a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6b2f32c2ed4786" /><Relationship Type="http://schemas.openxmlformats.org/officeDocument/2006/relationships/notesMaster" Target="/ppt/notesMasters/notesMaster1.xml" Id="Raea177469417477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a6bdcd8aa3f40e0" /><Relationship Type="http://schemas.openxmlformats.org/officeDocument/2006/relationships/notesMaster" Target="/ppt/notesMasters/notesMaster1.xml" Id="R81665374192e493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611036df234579" /><Relationship Type="http://schemas.openxmlformats.org/officeDocument/2006/relationships/notesMaster" Target="/ppt/notesMasters/notesMaster1.xml" Id="Rf9cb88971f7e4658"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32103a4ed24d32" /><Relationship Type="http://schemas.openxmlformats.org/officeDocument/2006/relationships/notesMaster" Target="/ppt/notesMasters/notesMaster1.xml" Id="R2681906c01c14f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your team adopts an AI coding agent, the most useful question isn't "does it work?" It's: who checks the result, and how much does that checking cost? Several recent sources raise that question from different angles. Here's what they actually say—and what they don't.</a:t>
            </a:r>
          </a:p>
          <a:p xmlns:a="http://schemas.openxmlformats.org/drawingml/2006/main">
            <a:r>
              <a:t/>
            </a:r>
          </a:p>
          <a:p xmlns:a="http://schemas.openxmlformats.org/drawingml/2006/main">
            <a:r>
              <a:t>SOURCES (not spoken):</a:t>
            </a:r>
          </a:p>
          <a:p xmlns:a="http://schemas.openxmlformats.org/drawingml/2006/main">
            <a:r>
              <a:t># Sources for piece 03</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[AI is changing developer work. Here are three skills to strengthen.](https://github.blog/ai-and-ml/ai-is-rewriting-the-developer-career-ladder-heres-how-to-stand-out/) — published 2026-10-02T15:00:00.000Z; evidence version 5b02378f5789044ef95a7bba5f11a3c7a0a628c3a3f75268015eeef5d775e89c</a:t>
            </a:r>
          </a:p>
          <a:p xmlns:a="http://schemas.openxmlformats.org/drawingml/2006/main">
            <a:r>
              <a:t>2. [Claude Code’s Next Era — Thariq Shihipar, Anthropic at 15:37](https://www.latent.space/p/thariq#t=937) — published 2026-09-29T01:48:18.000Z; evidence version da4c971ed7898c15212f53583ee6c5611cb70df6fe1bb13a4335cba320559712</a:t>
            </a:r>
          </a:p>
          <a:p xmlns:a="http://schemas.openxmlformats.org/drawingml/2006/main">
            <a:r>
              <a:t>3.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4.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5.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6.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7. [Deno is joining Cloudflare](https://blog.cloudflare.com/deno-joins-cloudflare/) — published 2026-10-09T12:50:00.000Z; evidence version 63ca4cabf57b6daf46f847ccb4d3289598c43d3d14ba612e58f2bd7ba1c4b117</a:t>
            </a:r>
          </a:p>
          <a:p xmlns:a="http://schemas.openxmlformats.org/drawingml/2006/main">
            <a:r>
              <a:t>8. [Deno is joining Cloudflare](https://blog.cloudflare.com/deno-joins-cloudflare/) — published 2026-10-09T12:50:00.000Z; evidence version 63ca4cabf57b6daf46f847ccb4d3289598c43d3d14ba612e58f2bd7ba1c4b117</a:t>
            </a:r>
          </a:p>
          <a:p xmlns:a="http://schemas.openxmlformats.org/drawingml/2006/main">
            <a:r>
              <a:t>9. [Deno is joining Cloudflare](https://blog.cloudflare.com/deno-joins-cloudflare/) — published 2026-10-09T12:50:00.000Z; evidence version 63ca4cabf57b6daf46f847ccb4d3289598c43d3d14ba612e58f2bd7ba1c4b117</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human role. GitHub's skills guidance argues that working with AI agents is a high-skill coordination job: defining problems clearly, evaluating generated code, and deciding what's ready to ship.  That framing comes from a company selling agent tools, so treat it as a source claim, not an independent finding. But the practical point holds: delegating implementation does not remove responsibility for the result.</a:t>
            </a:r>
          </a:p>
          <a:p xmlns:a="http://schemas.openxmlformats.org/drawingml/2006/main">
            <a:r>
              <a:t/>
            </a:r>
          </a:p>
          <a:p xmlns:a="http://schemas.openxmlformats.org/drawingml/2006/main">
            <a:r>
              <a:t>Prompting as a skill. In a Latent Space podcast interview, Anthropic's Thariq Shihipar described prompting as more like writing for a specific audience than entering a search query—something with a high skill ceiling that depends on building a mental model of how the agent thinks, knowing your domain vocabulary, and actively hunting for what you haven't written down yet.  He calls those unknown unknowns the most important gap. His example: ask an agent to design a game without any game-design background, and you may not be able to tell whether the output is any good. This is a vendor perspective, not a measured study—but the warning applies any time you generate code in a domain you don't understand well.</a:t>
            </a:r>
          </a:p>
          <a:p xmlns:a="http://schemas.openxmlformats.org/drawingml/2006/main">
            <a:r>
              <a:t/>
            </a:r>
          </a:p>
          <a:p xmlns:a="http://schemas.openxmlformats.org/drawingml/2006/main">
            <a:r>
              <a:t>SOURCES (not spoken):</a:t>
            </a:r>
          </a:p>
          <a:p xmlns:a="http://schemas.openxmlformats.org/drawingml/2006/main">
            <a:r>
              <a:t># Sources for piece 03</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[AI is changing developer work. Here are three skills to strengthen.](https://github.blog/ai-and-ml/ai-is-rewriting-the-developer-career-ladder-heres-how-to-stand-out/) — published 2026-10-02T15:00:00.000Z; evidence version 5b02378f5789044ef95a7bba5f11a3c7a0a628c3a3f75268015eeef5d775e89c</a:t>
            </a:r>
          </a:p>
          <a:p xmlns:a="http://schemas.openxmlformats.org/drawingml/2006/main">
            <a:r>
              <a:t>2. [Claude Code’s Next Era — Thariq Shihipar, Anthropic at 15:37](https://www.latent.space/p/thariq#t=937) — published 2026-09-29T01:48:18.000Z; evidence version da4c971ed7898c15212f53583ee6c5611cb70df6fe1bb13a4335cba320559712</a:t>
            </a:r>
          </a:p>
          <a:p xmlns:a="http://schemas.openxmlformats.org/drawingml/2006/main">
            <a:r>
              <a:t>3.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4.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5.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6.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7. [Deno is joining Cloudflare](https://blog.cloudflare.com/deno-joins-cloudflare/) — published 2026-10-09T12:50:00.000Z; evidence version 63ca4cabf57b6daf46f847ccb4d3289598c43d3d14ba612e58f2bd7ba1c4b117</a:t>
            </a:r>
          </a:p>
          <a:p xmlns:a="http://schemas.openxmlformats.org/drawingml/2006/main">
            <a:r>
              <a:t>8. [Deno is joining Cloudflare](https://blog.cloudflare.com/deno-joins-cloudflare/) — published 2026-10-09T12:50:00.000Z; evidence version 63ca4cabf57b6daf46f847ccb4d3289598c43d3d14ba612e58f2bd7ba1c4b117</a:t>
            </a:r>
          </a:p>
          <a:p xmlns:a="http://schemas.openxmlformats.org/drawingml/2006/main">
            <a:r>
              <a:t>9. [Deno is joining Cloudflare](https://blog.cloudflare.com/deno-joins-cloudflare/) — published 2026-10-09T12:50:00.000Z; evidence version 63ca4cabf57b6daf46f847ccb4d3289598c43d3d14ba612e58f2bd7ba1c4b117</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much process do you actually need? A Stack Overflow production field guide published in early October proposes a staged maturity model: determinism, evaluation, confidence handling, safety, operability, and a full production build.  Its self-assessment asks things like: can the agent only propose changes, with a separate step to apply them? Does a prompt change that breaks quality fail your CI pipeline? Can you stop automated decisions in seconds without a deploy? This is practitioner guidance, not an empirically validated minimum for student projects. The guide's own sequencing principle translates well even if the full checklist doesn't: a prototype generating boilerplate needs lighter controls than a service handling authentication or payments.</a:t>
            </a:r>
          </a:p>
          <a:p xmlns:a="http://schemas.openxmlformats.org/drawingml/2006/main">
            <a:r>
              <a:t/>
            </a:r>
          </a:p>
          <a:p xmlns:a="http://schemas.openxmlformats.org/drawingml/2006/main">
            <a:r>
              <a:t>SOURCES (not spoken):</a:t>
            </a:r>
          </a:p>
          <a:p xmlns:a="http://schemas.openxmlformats.org/drawingml/2006/main">
            <a:r>
              <a:t># Sources for piece 03</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[AI is changing developer work. Here are three skills to strengthen.](https://github.blog/ai-and-ml/ai-is-rewriting-the-developer-career-ladder-heres-how-to-stand-out/) — published 2026-10-02T15:00:00.000Z; evidence version 5b02378f5789044ef95a7bba5f11a3c7a0a628c3a3f75268015eeef5d775e89c</a:t>
            </a:r>
          </a:p>
          <a:p xmlns:a="http://schemas.openxmlformats.org/drawingml/2006/main">
            <a:r>
              <a:t>2. [Claude Code’s Next Era — Thariq Shihipar, Anthropic at 15:37](https://www.latent.space/p/thariq#t=937) — published 2026-09-29T01:48:18.000Z; evidence version da4c971ed7898c15212f53583ee6c5611cb70df6fe1bb13a4335cba320559712</a:t>
            </a:r>
          </a:p>
          <a:p xmlns:a="http://schemas.openxmlformats.org/drawingml/2006/main">
            <a:r>
              <a:t>3.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4.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5.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6.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7. [Deno is joining Cloudflare](https://blog.cloudflare.com/deno-joins-cloudflare/) — published 2026-10-09T12:50:00.000Z; evidence version 63ca4cabf57b6daf46f847ccb4d3289598c43d3d14ba612e58f2bd7ba1c4b117</a:t>
            </a:r>
          </a:p>
          <a:p xmlns:a="http://schemas.openxmlformats.org/drawingml/2006/main">
            <a:r>
              <a:t>8. [Deno is joining Cloudflare](https://blog.cloudflare.com/deno-joins-cloudflare/) — published 2026-10-09T12:50:00.000Z; evidence version 63ca4cabf57b6daf46f847ccb4d3289598c43d3d14ba612e58f2bd7ba1c4b117</a:t>
            </a:r>
          </a:p>
          <a:p xmlns:a="http://schemas.openxmlformats.org/drawingml/2006/main">
            <a:r>
              <a:t>9. [Deno is joining Cloudflare](https://blog.cloudflare.com/deno-joins-cloudflare/) — published 2026-10-09T12:50:00.000Z; evidence version 63ca4cabf57b6daf46f847ccb4d3289598c43d3d14ba612e58f2bd7ba1c4b117</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concrete cost. GitHub's push-protection announcement illustrates what scaled agent output means for a specific risk. According to GitHub, push protection today stops roughly 30 percent of newly detected secrets before they enter repository history; the remaining 70 percent are found after the credential is already exposed, requiring human cleanup that doesn't scale with code volume.  A new AI classifier called ModernBERT could more than double prevention coverage—but it will consume AI credits and was in private preview at announcement time. The existing protection feature and the proposed new classifier are not the same thing. Plan around what's available today. </a:t>
            </a:r>
          </a:p>
          <a:p xmlns:a="http://schemas.openxmlformats.org/drawingml/2006/main">
            <a:r>
              <a:t/>
            </a:r>
          </a:p>
          <a:p xmlns:a="http://schemas.openxmlformats.org/drawingml/2006/main">
            <a:r>
              <a:t>SOURCES (not spoken):</a:t>
            </a:r>
          </a:p>
          <a:p xmlns:a="http://schemas.openxmlformats.org/drawingml/2006/main">
            <a:r>
              <a:t># Sources for piece 03</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[AI is changing developer work. Here are three skills to strengthen.](https://github.blog/ai-and-ml/ai-is-rewriting-the-developer-career-ladder-heres-how-to-stand-out/) — published 2026-10-02T15:00:00.000Z; evidence version 5b02378f5789044ef95a7bba5f11a3c7a0a628c3a3f75268015eeef5d775e89c</a:t>
            </a:r>
          </a:p>
          <a:p xmlns:a="http://schemas.openxmlformats.org/drawingml/2006/main">
            <a:r>
              <a:t>2. [Claude Code’s Next Era — Thariq Shihipar, Anthropic at 15:37](https://www.latent.space/p/thariq#t=937) — published 2026-09-29T01:48:18.000Z; evidence version da4c971ed7898c15212f53583ee6c5611cb70df6fe1bb13a4335cba320559712</a:t>
            </a:r>
          </a:p>
          <a:p xmlns:a="http://schemas.openxmlformats.org/drawingml/2006/main">
            <a:r>
              <a:t>3.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4.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5.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6.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7. [Deno is joining Cloudflare](https://blog.cloudflare.com/deno-joins-cloudflare/) — published 2026-10-09T12:50:00.000Z; evidence version 63ca4cabf57b6daf46f847ccb4d3289598c43d3d14ba612e58f2bd7ba1c4b117</a:t>
            </a:r>
          </a:p>
          <a:p xmlns:a="http://schemas.openxmlformats.org/drawingml/2006/main">
            <a:r>
              <a:t>8. [Deno is joining Cloudflare](https://blog.cloudflare.com/deno-joins-cloudflare/) — published 2026-10-09T12:50:00.000Z; evidence version 63ca4cabf57b6daf46f847ccb4d3289598c43d3d14ba612e58f2bd7ba1c4b117</a:t>
            </a:r>
          </a:p>
          <a:p xmlns:a="http://schemas.openxmlformats.org/drawingml/2006/main">
            <a:r>
              <a:t>9. [Deno is joining Cloudflare](https://blog.cloudflare.com/deno-joins-cloudflare/) — published 2026-10-09T12:50:00.000Z; evidence version 63ca4cabf57b6daf46f847ccb4d3289598c43d3d14ba612e58f2bd7ba1c4b117</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Infrastructure promises are still promises. Cloudflare and Deno announced that the Deno team is joining Cloudflare, with a plan to merge their two server runtimes and make self-hosting a first-class supported experience. More announcements are promised in coming months. You can self-host either runtime today—but that existing capability is distinct from the merged experience being described.  Monitor this work rather than planning a migration around something that hasn't shipped. </a:t>
            </a:r>
          </a:p>
          <a:p xmlns:a="http://schemas.openxmlformats.org/drawingml/2006/main">
            <a:r>
              <a:t/>
            </a:r>
          </a:p>
          <a:p xmlns:a="http://schemas.openxmlformats.org/drawingml/2006/main">
            <a:r>
              <a:t>SOURCES (not spoken):</a:t>
            </a:r>
          </a:p>
          <a:p xmlns:a="http://schemas.openxmlformats.org/drawingml/2006/main">
            <a:r>
              <a:t># Sources for piece 03</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[AI is changing developer work. Here are three skills to strengthen.](https://github.blog/ai-and-ml/ai-is-rewriting-the-developer-career-ladder-heres-how-to-stand-out/) — published 2026-10-02T15:00:00.000Z; evidence version 5b02378f5789044ef95a7bba5f11a3c7a0a628c3a3f75268015eeef5d775e89c</a:t>
            </a:r>
          </a:p>
          <a:p xmlns:a="http://schemas.openxmlformats.org/drawingml/2006/main">
            <a:r>
              <a:t>2. [Claude Code’s Next Era — Thariq Shihipar, Anthropic at 15:37](https://www.latent.space/p/thariq#t=937) — published 2026-09-29T01:48:18.000Z; evidence version da4c971ed7898c15212f53583ee6c5611cb70df6fe1bb13a4335cba320559712</a:t>
            </a:r>
          </a:p>
          <a:p xmlns:a="http://schemas.openxmlformats.org/drawingml/2006/main">
            <a:r>
              <a:t>3.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4.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5.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6.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7. [Deno is joining Cloudflare](https://blog.cloudflare.com/deno-joins-cloudflare/) — published 2026-10-09T12:50:00.000Z; evidence version 63ca4cabf57b6daf46f847ccb4d3289598c43d3d14ba612e58f2bd7ba1c4b117</a:t>
            </a:r>
          </a:p>
          <a:p xmlns:a="http://schemas.openxmlformats.org/drawingml/2006/main">
            <a:r>
              <a:t>8. [Deno is joining Cloudflare](https://blog.cloudflare.com/deno-joins-cloudflare/) — published 2026-10-09T12:50:00.000Z; evidence version 63ca4cabf57b6daf46f847ccb4d3289598c43d3d14ba612e58f2bd7ba1c4b117</a:t>
            </a:r>
          </a:p>
          <a:p xmlns:a="http://schemas.openxmlformats.org/drawingml/2006/main">
            <a:r>
              <a:t>9. [Deno is joining Cloudflare](https://blog.cloudflare.com/deno-joins-cloudflare/) — published 2026-10-09T12:50:00.000Z; evidence version 63ca4cabf57b6daf46f847ccb4d3289598c43d3d14ba612e58f2bd7ba1c4b117</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gap worth naming. No source here measures adoption costs or outcomes specifically for student teams. The vendor sources have commercial interests, and the field guide offers advice rather than measured student outcomes. Novice maintainers, accessibility needs, and teams without enterprise budgets remain underrepresented.</a:t>
            </a:r>
          </a:p>
          <a:p xmlns:a="http://schemas.openxmlformats.org/drawingml/2006/main">
            <a:r>
              <a:t/>
            </a:r>
          </a:p>
          <a:p xmlns:a="http://schemas.openxmlformats.org/drawingml/2006/main">
            <a:r>
              <a:t>SOURCES (not spoken):</a:t>
            </a:r>
          </a:p>
          <a:p xmlns:a="http://schemas.openxmlformats.org/drawingml/2006/main">
            <a:r>
              <a:t># Sources for piece 03</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[AI is changing developer work. Here are three skills to strengthen.](https://github.blog/ai-and-ml/ai-is-rewriting-the-developer-career-ladder-heres-how-to-stand-out/) — published 2026-10-02T15:00:00.000Z; evidence version 5b02378f5789044ef95a7bba5f11a3c7a0a628c3a3f75268015eeef5d775e89c</a:t>
            </a:r>
          </a:p>
          <a:p xmlns:a="http://schemas.openxmlformats.org/drawingml/2006/main">
            <a:r>
              <a:t>2. [Claude Code’s Next Era — Thariq Shihipar, Anthropic at 15:37](https://www.latent.space/p/thariq#t=937) — published 2026-09-29T01:48:18.000Z; evidence version da4c971ed7898c15212f53583ee6c5611cb70df6fe1bb13a4335cba320559712</a:t>
            </a:r>
          </a:p>
          <a:p xmlns:a="http://schemas.openxmlformats.org/drawingml/2006/main">
            <a:r>
              <a:t>3.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4.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5.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6.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7. [Deno is joining Cloudflare](https://blog.cloudflare.com/deno-joins-cloudflare/) — published 2026-10-09T12:50:00.000Z; evidence version 63ca4cabf57b6daf46f847ccb4d3289598c43d3d14ba612e58f2bd7ba1c4b117</a:t>
            </a:r>
          </a:p>
          <a:p xmlns:a="http://schemas.openxmlformats.org/drawingml/2006/main">
            <a:r>
              <a:t>8. [Deno is joining Cloudflare](https://blog.cloudflare.com/deno-joins-cloudflare/) — published 2026-10-09T12:50:00.000Z; evidence version 63ca4cabf57b6daf46f847ccb4d3289598c43d3d14ba612e58f2bd7ba1c4b117</a:t>
            </a:r>
          </a:p>
          <a:p xmlns:a="http://schemas.openxmlformats.org/drawingml/2006/main">
            <a:r>
              <a:t>9. [Deno is joining Cloudflare](https://blog.cloudflare.com/deno-joins-cloudflare/) — published 2026-10-09T12:50:00.000Z; evidence version 63ca4cabf57b6daf46f847ccb4d3289598c43d3d14ba612e58f2bd7ba1c4b117</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 here is the practical sequence: pick one bounded task whose result you can verify yourself, identify who on your team owns that check, and match controls to the actual risk level. </a:t>
            </a:r>
          </a:p>
          <a:p xmlns:a="http://schemas.openxmlformats.org/drawingml/2006/main">
            <a:r>
              <a:t/>
            </a:r>
          </a:p>
          <a:p xmlns:a="http://schemas.openxmlformats.org/drawingml/2006/main">
            <a:r>
              <a:t>The question to keep asking: when you find a defect the agent introduced silently, how long did that take to catch—and was the time saved earlier worth it?</a:t>
            </a:r>
          </a:p>
          <a:p xmlns:a="http://schemas.openxmlformats.org/drawingml/2006/main">
            <a:r>
              <a:t/>
            </a:r>
          </a:p>
          <a:p xmlns:a="http://schemas.openxmlformats.org/drawingml/2006/main">
            <a:r>
              <a:t>SOURCES (not spoken):</a:t>
            </a:r>
          </a:p>
          <a:p xmlns:a="http://schemas.openxmlformats.org/drawingml/2006/main">
            <a:r>
              <a:t># Sources for piece 03</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[AI is changing developer work. Here are three skills to strengthen.](https://github.blog/ai-and-ml/ai-is-rewriting-the-developer-career-ladder-heres-how-to-stand-out/) — published 2026-10-02T15:00:00.000Z; evidence version 5b02378f5789044ef95a7bba5f11a3c7a0a628c3a3f75268015eeef5d775e89c</a:t>
            </a:r>
          </a:p>
          <a:p xmlns:a="http://schemas.openxmlformats.org/drawingml/2006/main">
            <a:r>
              <a:t>2. [Claude Code’s Next Era — Thariq Shihipar, Anthropic at 15:37](https://www.latent.space/p/thariq#t=937) — published 2026-09-29T01:48:18.000Z; evidence version da4c971ed7898c15212f53583ee6c5611cb70df6fe1bb13a4335cba320559712</a:t>
            </a:r>
          </a:p>
          <a:p xmlns:a="http://schemas.openxmlformats.org/drawingml/2006/main">
            <a:r>
              <a:t>3.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4. [Production-grade LLMs and agents: a field guide](https://stackoverflow.blog/2026/10/08/production-grade-llms-and-agents-a-field-guide/) — published 2026-10-08T20:22:56.000Z; evidence version 3921e34ddc0003c2f4420e1d6716786e7202484d3cd3738dcd4e6446b81c609b</a:t>
            </a:r>
          </a:p>
          <a:p xmlns:a="http://schemas.openxmlformats.org/drawingml/2006/main">
            <a:r>
              <a:t>5.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6. [Secret protection must scale with software](https://github.blog/ai-and-ml/github-copilot/secret-protection-must-scale-with-software/) — published 2026-10-07T17:45:34.000Z; evidence version 4879eb32c5442e44bd1c89a597c86910d3c3ae715244bc34b1b0df0a8b5e14f4</a:t>
            </a:r>
          </a:p>
          <a:p xmlns:a="http://schemas.openxmlformats.org/drawingml/2006/main">
            <a:r>
              <a:t>7. [Deno is joining Cloudflare](https://blog.cloudflare.com/deno-joins-cloudflare/) — published 2026-10-09T12:50:00.000Z; evidence version 63ca4cabf57b6daf46f847ccb4d3289598c43d3d14ba612e58f2bd7ba1c4b117</a:t>
            </a:r>
          </a:p>
          <a:p xmlns:a="http://schemas.openxmlformats.org/drawingml/2006/main">
            <a:r>
              <a:t>8. [Deno is joining Cloudflare](https://blog.cloudflare.com/deno-joins-cloudflare/) — published 2026-10-09T12:50:00.000Z; evidence version 63ca4cabf57b6daf46f847ccb4d3289598c43d3d14ba612e58f2bd7ba1c4b117</a:t>
            </a:r>
          </a:p>
          <a:p xmlns:a="http://schemas.openxmlformats.org/drawingml/2006/main">
            <a:r>
              <a:t>9. [Deno is joining Cloudflare](https://blog.cloudflare.com/deno-joins-cloudflare/) — published 2026-10-09T12:50:00.000Z; evidence version 63ca4cabf57b6daf46f847ccb4d3289598c43d3d14ba612e58f2bd7ba1c4b117</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184999a28342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11ed6bad4245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cdce3d5d9f34e3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e1e54de33ae43a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7ebf6a25aa145f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5121416b77d48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B0619C-1133-43D9-8700-96E684BBC91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7D2EAAB-B248-414C-9F33-3BEDD291AF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6479911-025F-41A5-98F0-D1054A5E933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67146A-82F9-4705-BAE7-ACE8B11F0B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A8C34D-FBDE-44D9-AA02-3877F16B483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7126D23-6AD7-4E3E-926F-1E897F276D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527731A-251E-40BC-9661-78B67EB9BE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827D1C-FAAF-4D67-A129-F030C644219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9BF8CD-13F9-499C-AD77-C4075055CD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CF4B6EC-81C7-4AD0-8CB7-344B5A519BF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4566092c5740e7" /><Relationship Type="http://schemas.openxmlformats.org/officeDocument/2006/relationships/slideLayout" Target="/ppt/slideLayouts/slideLayout1.xml" Id="Re636a6fe67274871" /><Relationship Type="http://schemas.openxmlformats.org/officeDocument/2006/relationships/slideLayout" Target="/ppt/slideLayouts/slideLayout2.xml" Id="Rd9de19edfc9d4e6f" /><Relationship Type="http://schemas.openxmlformats.org/officeDocument/2006/relationships/slideLayout" Target="/ppt/slideLayouts/slideLayout3.xml" Id="Rf2c4cfa3ee714927" /><Relationship Type="http://schemas.openxmlformats.org/officeDocument/2006/relationships/slideLayout" Target="/ppt/slideLayouts/slideLayout4.xml" Id="R5ad4a7cf928a4990" /><Relationship Type="http://schemas.openxmlformats.org/officeDocument/2006/relationships/slideLayout" Target="/ppt/slideLayouts/slideLayout5.xml" Id="R93dcc68d7d8a424a" /><Relationship Type="http://schemas.openxmlformats.org/officeDocument/2006/relationships/slideLayout" Target="/ppt/slideLayouts/slideLayout6.xml" Id="R5e0f8cdc9d6a41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36a6fe67274871"/>
    <p:sldLayoutId xmlns:r="http://schemas.openxmlformats.org/officeDocument/2006/relationships" id="2147483650" r:id="Rd9de19edfc9d4e6f"/>
    <p:sldLayoutId xmlns:r="http://schemas.openxmlformats.org/officeDocument/2006/relationships" id="2147483651" r:id="Rf2c4cfa3ee714927"/>
    <p:sldLayoutId xmlns:r="http://schemas.openxmlformats.org/officeDocument/2006/relationships" id="2147483652" r:id="R5ad4a7cf928a4990"/>
    <p:sldLayoutId xmlns:r="http://schemas.openxmlformats.org/officeDocument/2006/relationships" id="2147483653" r:id="R93dcc68d7d8a424a"/>
    <p:sldLayoutId xmlns:r="http://schemas.openxmlformats.org/officeDocument/2006/relationships" id="2147483654" r:id="R5e0f8cdc9d6a41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7cbddcec1a4204" /><Relationship Type="http://schemas.openxmlformats.org/officeDocument/2006/relationships/image" Target="/ppt/media/image.png" Id="Rf3f3121b31524b67" /><Relationship Type="http://schemas.openxmlformats.org/officeDocument/2006/relationships/notesSlide" Target="/ppt/notesSlides/notesSlide1.xml" Id="R401fff7bce5a4d5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bcab244141348db" /><Relationship Type="http://schemas.openxmlformats.org/officeDocument/2006/relationships/image" Target="/ppt/media/image2.png" Id="R99bf20ee385e485e" /><Relationship Type="http://schemas.openxmlformats.org/officeDocument/2006/relationships/notesSlide" Target="/ppt/notesSlides/notesSlide2.xml" Id="Ra74910da5bca490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6161ee4f9641f0" /><Relationship Type="http://schemas.openxmlformats.org/officeDocument/2006/relationships/image" Target="/ppt/media/image3.png" Id="R8cec23e1886c4d4e" /><Relationship Type="http://schemas.openxmlformats.org/officeDocument/2006/relationships/notesSlide" Target="/ppt/notesSlides/notesSlide3.xml" Id="Rd226ea3ecc9543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10b87cc88764535" /><Relationship Type="http://schemas.openxmlformats.org/officeDocument/2006/relationships/image" Target="/ppt/media/image4.png" Id="R1d8aeaffd2c246b0" /><Relationship Type="http://schemas.openxmlformats.org/officeDocument/2006/relationships/notesSlide" Target="/ppt/notesSlides/notesSlide4.xml" Id="R9d1a452aa45049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0d668e20554b72" /><Relationship Type="http://schemas.openxmlformats.org/officeDocument/2006/relationships/image" Target="/ppt/media/image5.png" Id="R72e90cfd434a4ea4" /><Relationship Type="http://schemas.openxmlformats.org/officeDocument/2006/relationships/notesSlide" Target="/ppt/notesSlides/notesSlide5.xml" Id="R37f31bf2315c4d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9bbea9650fa49ae" /><Relationship Type="http://schemas.openxmlformats.org/officeDocument/2006/relationships/image" Target="/ppt/media/image6.png" Id="R46328a394808435e" /><Relationship Type="http://schemas.openxmlformats.org/officeDocument/2006/relationships/notesSlide" Target="/ppt/notesSlides/notesSlide6.xml" Id="R401b2cddd4dd43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9065482790400a" /><Relationship Type="http://schemas.openxmlformats.org/officeDocument/2006/relationships/image" Target="/ppt/media/image7.png" Id="Ra852f74876ff4f06" /><Relationship Type="http://schemas.openxmlformats.org/officeDocument/2006/relationships/notesSlide" Target="/ppt/notesSlides/notesSlide7.xml" Id="R341920bb667d4ae4" /></Relationships>
</file>

<file path=ppt/slides/slide1.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4D32CDE-1952-40DB-B228-7D0EEA039FF5}"/>
              </a:ext>
            </a:extLst>
          </p:cNvPr>
          <p:cNvPicPr>
            <a:picLocks xmlns:a="http://schemas.openxmlformats.org/drawingml/2006/main" noChangeAspect="1"/>
          </p:cNvPicPr>
          <p:nvPr/>
        </p:nvPicPr>
        <p:blipFill>
          <a:blip xmlns:r="http://schemas.openxmlformats.org/officeDocument/2006/relationships" xmlns:a="http://schemas.openxmlformats.org/drawingml/2006/main" r:embed="Rf3f3121b31524b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4F4A85B-F086-46B5-A7E7-C6FA71875665}"/>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00AE2458-F2B6-494A-AB7F-1BA4B73CCD1A}"/>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4350" b="1">
                <a:solidFill>
                  <a:srgbClr val="FFFFFF"/>
                </a:solidFill>
                <a:latin typeface="Arial"/>
                <a:ea typeface="Arial"/>
                <a:cs typeface="Arial"/>
              </a:defRPr>
            </a:def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small-team adoption plan</a:t>
            </a:r>
          </a:p>
        </p:txBody>
      </p:sp>
      <p:sp>
        <p:nvSpPr>
          <p:cNvPr id="4" name="">
            <a:extLst xmlns:a="http://schemas.openxmlformats.org/drawingml/2006/main">
              <a:ext uri="{FF2B5EF4-FFF2-40B4-BE49-F238E27FC236}">
                <a16:creationId xmlns:a16="http://schemas.microsoft.com/office/drawing/2014/main" id="{2A1F6EA1-3ED3-4C9A-92AA-4D34149DC831}"/>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Who checks the result?</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What does that checking cost?</a:t>
            </a:r>
          </a:p>
        </p:txBody>
      </p:sp>
      <p:sp>
        <p:nvSpPr>
          <p:cNvPr id="5" name="">
            <a:extLst xmlns:a="http://schemas.openxmlformats.org/drawingml/2006/main">
              <a:ext uri="{FF2B5EF4-FFF2-40B4-BE49-F238E27FC236}">
                <a16:creationId xmlns:a16="http://schemas.microsoft.com/office/drawing/2014/main" id="{2AF7DDAD-E525-4BF5-9B02-CA657E6569B8}"/>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Agent Engineering Brief — 03</a:t>
            </a:r>
          </a:p>
        </p:txBody>
      </p:sp>
      <p:sp>
        <p:nvSpPr>
          <p:cNvPr id="6" name="">
            <a:extLst xmlns:a="http://schemas.openxmlformats.org/drawingml/2006/main">
              <a:ext uri="{FF2B5EF4-FFF2-40B4-BE49-F238E27FC236}">
                <a16:creationId xmlns:a16="http://schemas.microsoft.com/office/drawing/2014/main" id="{7DBE528F-10A1-4F9F-9094-8E46D1F5F264}"/>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47C14D5E-B9A3-4D8A-9594-F190EABCE508}"/>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01</a:t>
            </a:r>
          </a:p>
        </p:txBody>
      </p:sp>
    </p:spTree>
    <p:extLst>
      <p:ext uri="{BB962C8B-B14F-4D97-AF65-F5344CB8AC3E}">
        <p14:creationId xmlns:p14="http://schemas.microsoft.com/office/powerpoint/2010/main" val="1210834734"/>
      </p:ext>
    </p:extLst>
  </p:cSld>
</p:sld>
</file>

<file path=ppt/slides/slide2.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92F1B0B-61CD-4863-BE08-0A34B03E58EC}"/>
              </a:ext>
            </a:extLst>
          </p:cNvPr>
          <p:cNvPicPr>
            <a:picLocks xmlns:a="http://schemas.openxmlformats.org/drawingml/2006/main" noChangeAspect="1"/>
          </p:cNvPicPr>
          <p:nvPr/>
        </p:nvPicPr>
        <p:blipFill>
          <a:blip xmlns:r="http://schemas.openxmlformats.org/officeDocument/2006/relationships" xmlns:a="http://schemas.openxmlformats.org/drawingml/2006/main" r:embed="R99bf20ee385e485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E87BE9-F7C0-4A61-8621-47FF2EE9132D}"/>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B0F460FA-1C37-4C38-AB1A-6CA5F707AEB2}"/>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Technical judgment</a:t>
            </a:r>
          </a:p>
        </p:txBody>
      </p:sp>
      <p:sp>
        <p:nvSpPr>
          <p:cNvPr id="4" name="">
            <a:extLst xmlns:a="http://schemas.openxmlformats.org/drawingml/2006/main">
              <a:ext uri="{FF2B5EF4-FFF2-40B4-BE49-F238E27FC236}">
                <a16:creationId xmlns:a16="http://schemas.microsoft.com/office/drawing/2014/main" id="{A13E4214-F407-434A-BAC4-182EB90DA902}"/>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People define the task and evaluate generated code</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Domain knowledge helps expose missing assumptions</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Vendor guidance does not establish measured benefits</a:t>
            </a:r>
          </a:p>
        </p:txBody>
      </p:sp>
      <p:sp>
        <p:nvSpPr>
          <p:cNvPr id="5" name="">
            <a:extLst xmlns:a="http://schemas.openxmlformats.org/drawingml/2006/main">
              <a:ext uri="{FF2B5EF4-FFF2-40B4-BE49-F238E27FC236}">
                <a16:creationId xmlns:a16="http://schemas.microsoft.com/office/drawing/2014/main" id="{228F6CC9-DEB7-4E3B-B017-E145FDC3D6F1}"/>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Sources: GitHub skills guidance; Latent Space interview</a:t>
            </a:r>
          </a:p>
        </p:txBody>
      </p:sp>
      <p:sp>
        <p:nvSpPr>
          <p:cNvPr id="6" name="">
            <a:extLst xmlns:a="http://schemas.openxmlformats.org/drawingml/2006/main">
              <a:ext uri="{FF2B5EF4-FFF2-40B4-BE49-F238E27FC236}">
                <a16:creationId xmlns:a16="http://schemas.microsoft.com/office/drawing/2014/main" id="{AA51F109-800B-45AA-944F-B03EFCD32CB6}"/>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47438B04-BC4D-4ED0-8642-7354AEB61A9E}"/>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02</a:t>
            </a:r>
          </a:p>
        </p:txBody>
      </p:sp>
    </p:spTree>
    <p:extLst>
      <p:ext uri="{BB962C8B-B14F-4D97-AF65-F5344CB8AC3E}">
        <p14:creationId xmlns:p14="http://schemas.microsoft.com/office/powerpoint/2010/main" val="624782227"/>
      </p:ext>
    </p:extLst>
  </p:cSld>
</p:sld>
</file>

<file path=ppt/slides/slide3.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9E0FF9A-6243-40A7-B2DC-3B0E4D716EC4}"/>
              </a:ext>
            </a:extLst>
          </p:cNvPr>
          <p:cNvPicPr>
            <a:picLocks xmlns:a="http://schemas.openxmlformats.org/drawingml/2006/main" noChangeAspect="1"/>
          </p:cNvPicPr>
          <p:nvPr/>
        </p:nvPicPr>
        <p:blipFill>
          <a:blip xmlns:r="http://schemas.openxmlformats.org/officeDocument/2006/relationships" xmlns:a="http://schemas.openxmlformats.org/drawingml/2006/main" r:embed="R8cec23e1886c4d4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5BD47E-D862-4BDE-97FC-E2CFCB6C5706}"/>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DEF563DB-5B7B-45F7-A8DB-D8A8489D739D}"/>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Controls matched to risk</a:t>
            </a:r>
          </a:p>
        </p:txBody>
      </p:sp>
      <p:sp>
        <p:nvSpPr>
          <p:cNvPr id="4" name="">
            <a:extLst xmlns:a="http://schemas.openxmlformats.org/drawingml/2006/main">
              <a:ext uri="{FF2B5EF4-FFF2-40B4-BE49-F238E27FC236}">
                <a16:creationId xmlns:a16="http://schemas.microsoft.com/office/drawing/2014/main" id="{72D880C0-2C73-42EB-90D9-5F19D6127D9D}"/>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A prototype and a payment service need different checks</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The field guide proposes a staged maturity model</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Its checklist is guidance, not a universal minimum</a:t>
            </a:r>
          </a:p>
        </p:txBody>
      </p:sp>
      <p:sp>
        <p:nvSpPr>
          <p:cNvPr id="5" name="">
            <a:extLst xmlns:a="http://schemas.openxmlformats.org/drawingml/2006/main">
              <a:ext uri="{FF2B5EF4-FFF2-40B4-BE49-F238E27FC236}">
                <a16:creationId xmlns:a16="http://schemas.microsoft.com/office/drawing/2014/main" id="{AF7B7247-1E3D-4350-8248-D64771AB0A37}"/>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Stack Overflow production field guide</a:t>
            </a:r>
          </a:p>
        </p:txBody>
      </p:sp>
      <p:sp>
        <p:nvSpPr>
          <p:cNvPr id="6" name="">
            <a:extLst xmlns:a="http://schemas.openxmlformats.org/drawingml/2006/main">
              <a:ext uri="{FF2B5EF4-FFF2-40B4-BE49-F238E27FC236}">
                <a16:creationId xmlns:a16="http://schemas.microsoft.com/office/drawing/2014/main" id="{A786F86B-428C-4BEA-992C-3E1924B4FA90}"/>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3A7C3D1F-5705-4494-8C34-F53E9CFE6C02}"/>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03</a:t>
            </a:r>
          </a:p>
        </p:txBody>
      </p:sp>
    </p:spTree>
    <p:extLst>
      <p:ext uri="{BB962C8B-B14F-4D97-AF65-F5344CB8AC3E}">
        <p14:creationId xmlns:p14="http://schemas.microsoft.com/office/powerpoint/2010/main" val="1621244734"/>
      </p:ext>
    </p:extLst>
  </p:cSld>
</p:sld>
</file>

<file path=ppt/slides/slide4.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B666296-FB34-4D12-A4A9-0D975296C612}"/>
              </a:ext>
            </a:extLst>
          </p:cNvPr>
          <p:cNvPicPr>
            <a:picLocks xmlns:a="http://schemas.openxmlformats.org/drawingml/2006/main" noChangeAspect="1"/>
          </p:cNvPicPr>
          <p:nvPr/>
        </p:nvPicPr>
        <p:blipFill>
          <a:blip xmlns:r="http://schemas.openxmlformats.org/officeDocument/2006/relationships" xmlns:a="http://schemas.openxmlformats.org/drawingml/2006/main" r:embed="R1d8aeaffd2c246b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2B5B5CF-AE84-46B1-97A8-A9C5F8B0D5D7}"/>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411C5010-2784-4F60-9FF8-53F0E0768E2E}"/>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A concrete security cost</a:t>
            </a:r>
          </a:p>
        </p:txBody>
      </p:sp>
      <p:sp>
        <p:nvSpPr>
          <p:cNvPr id="4" name="">
            <a:extLst xmlns:a="http://schemas.openxmlformats.org/drawingml/2006/main">
              <a:ext uri="{FF2B5EF4-FFF2-40B4-BE49-F238E27FC236}">
                <a16:creationId xmlns:a16="http://schemas.microsoft.com/office/drawing/2014/main" id="{A4DF1CD3-F476-46B1-A84D-B566E4FAF058}"/>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GitHub reports roughly 30% prevention before exposure</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Its new classifier could expand prevention</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The announced private preview consumes AI credits</a:t>
            </a:r>
          </a:p>
        </p:txBody>
      </p:sp>
      <p:sp>
        <p:nvSpPr>
          <p:cNvPr id="5" name="">
            <a:extLst xmlns:a="http://schemas.openxmlformats.org/drawingml/2006/main">
              <a:ext uri="{FF2B5EF4-FFF2-40B4-BE49-F238E27FC236}">
                <a16:creationId xmlns:a16="http://schemas.microsoft.com/office/drawing/2014/main" id="{57341B5C-C047-4E58-9EED-A4781339569C}"/>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GitHub Secret Protection announcement; vendor claims</a:t>
            </a:r>
          </a:p>
        </p:txBody>
      </p:sp>
      <p:sp>
        <p:nvSpPr>
          <p:cNvPr id="6" name="">
            <a:extLst xmlns:a="http://schemas.openxmlformats.org/drawingml/2006/main">
              <a:ext uri="{FF2B5EF4-FFF2-40B4-BE49-F238E27FC236}">
                <a16:creationId xmlns:a16="http://schemas.microsoft.com/office/drawing/2014/main" id="{8E8E5B3F-E739-4D00-9E65-4C5B1A04A891}"/>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7CC7540E-92E4-427D-BE0F-09774D42EFAC}"/>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04</a:t>
            </a:r>
          </a:p>
        </p:txBody>
      </p:sp>
    </p:spTree>
    <p:extLst>
      <p:ext uri="{BB962C8B-B14F-4D97-AF65-F5344CB8AC3E}">
        <p14:creationId xmlns:p14="http://schemas.microsoft.com/office/powerpoint/2010/main" val="466901436"/>
      </p:ext>
    </p:extLst>
  </p:cSld>
</p:sld>
</file>

<file path=ppt/slides/slide5.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3C605A4-F105-4098-B6B7-4ED3A9050483}"/>
              </a:ext>
            </a:extLst>
          </p:cNvPr>
          <p:cNvPicPr>
            <a:picLocks xmlns:a="http://schemas.openxmlformats.org/drawingml/2006/main" noChangeAspect="1"/>
          </p:cNvPicPr>
          <p:nvPr/>
        </p:nvPicPr>
        <p:blipFill>
          <a:blip xmlns:r="http://schemas.openxmlformats.org/officeDocument/2006/relationships" xmlns:a="http://schemas.openxmlformats.org/drawingml/2006/main" r:embed="R72e90cfd434a4ea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A49343-437E-4AC7-AEE6-55846DDD5968}"/>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5044E0D5-BDF8-4371-95DC-D5792F8319B2}"/>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Deno and Cloudflare’s roadmap</a:t>
            </a:r>
          </a:p>
        </p:txBody>
      </p:sp>
      <p:sp>
        <p:nvSpPr>
          <p:cNvPr id="4" name="">
            <a:extLst xmlns:a="http://schemas.openxmlformats.org/drawingml/2006/main">
              <a:ext uri="{FF2B5EF4-FFF2-40B4-BE49-F238E27FC236}">
                <a16:creationId xmlns:a16="http://schemas.microsoft.com/office/drawing/2014/main" id="{D30AA3BC-3B56-4730-A93E-CE98BF6E9318}"/>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The teams announced a plan to combine runtime work</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Existing self-hosting differs from the promised integration</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Delivery and small-team economics remain unverified</a:t>
            </a:r>
          </a:p>
        </p:txBody>
      </p:sp>
      <p:sp>
        <p:nvSpPr>
          <p:cNvPr id="5" name="">
            <a:extLst xmlns:a="http://schemas.openxmlformats.org/drawingml/2006/main">
              <a:ext uri="{FF2B5EF4-FFF2-40B4-BE49-F238E27FC236}">
                <a16:creationId xmlns:a16="http://schemas.microsoft.com/office/drawing/2014/main" id="{7CA32A6E-1B46-430D-BB91-63473C10966E}"/>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Cloudflare announcement, October 9, 2026</a:t>
            </a:r>
          </a:p>
        </p:txBody>
      </p:sp>
      <p:sp>
        <p:nvSpPr>
          <p:cNvPr id="6" name="">
            <a:extLst xmlns:a="http://schemas.openxmlformats.org/drawingml/2006/main">
              <a:ext uri="{FF2B5EF4-FFF2-40B4-BE49-F238E27FC236}">
                <a16:creationId xmlns:a16="http://schemas.microsoft.com/office/drawing/2014/main" id="{51A6F24F-7965-4FD1-9BB3-D29E8BCC96F4}"/>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C960A819-89A4-44C3-BB27-04B34EC66685}"/>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05</a:t>
            </a:r>
          </a:p>
        </p:txBody>
      </p:sp>
    </p:spTree>
    <p:extLst>
      <p:ext uri="{BB962C8B-B14F-4D97-AF65-F5344CB8AC3E}">
        <p14:creationId xmlns:p14="http://schemas.microsoft.com/office/powerpoint/2010/main" val="572346290"/>
      </p:ext>
    </p:extLst>
  </p:cSld>
</p:sld>
</file>

<file path=ppt/slides/slide6.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8C84C20-943C-4EB9-96B9-5A365CE7D58B}"/>
              </a:ext>
            </a:extLst>
          </p:cNvPr>
          <p:cNvPicPr>
            <a:picLocks xmlns:a="http://schemas.openxmlformats.org/drawingml/2006/main" noChangeAspect="1"/>
          </p:cNvPicPr>
          <p:nvPr/>
        </p:nvPicPr>
        <p:blipFill>
          <a:blip xmlns:r="http://schemas.openxmlformats.org/officeDocument/2006/relationships" xmlns:a="http://schemas.openxmlformats.org/drawingml/2006/main" r:embed="R46328a394808435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13E06E-5F0E-45E2-BD8C-5659A7409E09}"/>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DEAB34B7-EFD8-4DC1-9CE6-05AC6B33E72E}"/>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Missing perspectives</a:t>
            </a:r>
          </a:p>
        </p:txBody>
      </p:sp>
      <p:sp>
        <p:nvSpPr>
          <p:cNvPr id="4" name="">
            <a:extLst xmlns:a="http://schemas.openxmlformats.org/drawingml/2006/main">
              <a:ext uri="{FF2B5EF4-FFF2-40B4-BE49-F238E27FC236}">
                <a16:creationId xmlns:a16="http://schemas.microsoft.com/office/drawing/2014/main" id="{70A674B8-E3F3-44D9-94A2-FC0BE6CC67D2}"/>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No selected source measures student-team outcomes</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Novice maintainers and accessibility needs lack coverage</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Vendor incentives shape much of the available evidence</a:t>
            </a:r>
          </a:p>
        </p:txBody>
      </p:sp>
      <p:sp>
        <p:nvSpPr>
          <p:cNvPr id="5" name="">
            <a:extLst xmlns:a="http://schemas.openxmlformats.org/drawingml/2006/main">
              <a:ext uri="{FF2B5EF4-FFF2-40B4-BE49-F238E27FC236}">
                <a16:creationId xmlns:a16="http://schemas.microsoft.com/office/drawing/2014/main" id="{9DD08515-774F-4250-9A2E-2D42FBB87315}"/>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Limitations of this evidence set</a:t>
            </a:r>
          </a:p>
        </p:txBody>
      </p:sp>
      <p:sp>
        <p:nvSpPr>
          <p:cNvPr id="6" name="">
            <a:extLst xmlns:a="http://schemas.openxmlformats.org/drawingml/2006/main">
              <a:ext uri="{FF2B5EF4-FFF2-40B4-BE49-F238E27FC236}">
                <a16:creationId xmlns:a16="http://schemas.microsoft.com/office/drawing/2014/main" id="{5F7C93EA-BF15-4C39-A5A7-9E15A02C6EBF}"/>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093E36A6-1770-40A0-AB16-C51AA1749E09}"/>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06</a:t>
            </a:r>
          </a:p>
        </p:txBody>
      </p:sp>
    </p:spTree>
    <p:extLst>
      <p:ext uri="{BB962C8B-B14F-4D97-AF65-F5344CB8AC3E}">
        <p14:creationId xmlns:p14="http://schemas.microsoft.com/office/powerpoint/2010/main" val="1579720911"/>
      </p:ext>
    </p:extLst>
  </p:cSld>
</p:sld>
</file>

<file path=ppt/slides/slide7.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89A9FEF-60A7-4CB5-8D6D-20B839DE6BA0}"/>
              </a:ext>
            </a:extLst>
          </p:cNvPr>
          <p:cNvPicPr>
            <a:picLocks xmlns:a="http://schemas.openxmlformats.org/drawingml/2006/main" noChangeAspect="1"/>
          </p:cNvPicPr>
          <p:nvPr/>
        </p:nvPicPr>
        <p:blipFill>
          <a:blip xmlns:r="http://schemas.openxmlformats.org/officeDocument/2006/relationships" xmlns:a="http://schemas.openxmlformats.org/drawingml/2006/main" r:embed="Ra852f74876ff4f0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A8EEB1A-3C41-49CE-AAE4-1CFCD3C58358}"/>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FA7AB101-71D7-43FD-94D7-2D49CB48E28E}"/>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One bounded task</a:t>
            </a:r>
          </a:p>
        </p:txBody>
      </p:sp>
      <p:sp>
        <p:nvSpPr>
          <p:cNvPr id="4" name="">
            <a:extLst xmlns:a="http://schemas.openxmlformats.org/drawingml/2006/main">
              <a:ext uri="{FF2B5EF4-FFF2-40B4-BE49-F238E27FC236}">
                <a16:creationId xmlns:a16="http://schemas.microsoft.com/office/drawing/2014/main" id="{29A93917-7BD8-4409-BB8A-14D755D2E9A8}"/>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Name the person responsible for checking the result</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Match controls to the consequences of failure</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Compare time saved with time spent finding defects</a:t>
            </a:r>
          </a:p>
        </p:txBody>
      </p:sp>
      <p:sp>
        <p:nvSpPr>
          <p:cNvPr id="5" name="">
            <a:extLst xmlns:a="http://schemas.openxmlformats.org/drawingml/2006/main">
              <a:ext uri="{FF2B5EF4-FFF2-40B4-BE49-F238E27FC236}">
                <a16:creationId xmlns:a16="http://schemas.microsoft.com/office/drawing/2014/main" id="{E67F9190-E539-4FD1-B598-14565F74F915}"/>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Editorial recommendation, not a measured productivity result</a:t>
            </a:r>
          </a:p>
        </p:txBody>
      </p:sp>
      <p:sp>
        <p:nvSpPr>
          <p:cNvPr id="6" name="">
            <a:extLst xmlns:a="http://schemas.openxmlformats.org/drawingml/2006/main">
              <a:ext uri="{FF2B5EF4-FFF2-40B4-BE49-F238E27FC236}">
                <a16:creationId xmlns:a16="http://schemas.microsoft.com/office/drawing/2014/main" id="{1647A4EE-6940-464A-827C-D89223D023B7}"/>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D98201E9-A0E7-444C-B45D-9EDFD00E3B26}"/>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07</a:t>
            </a:r>
          </a:p>
        </p:txBody>
      </p:sp>
    </p:spTree>
    <p:extLst>
      <p:ext uri="{BB962C8B-B14F-4D97-AF65-F5344CB8AC3E}">
        <p14:creationId xmlns:p14="http://schemas.microsoft.com/office/powerpoint/2010/main" val="3808470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2026-10-16T14:38:01.5180000Z</dcterms:created>
  <dcterms:modified xsi:type="dcterms:W3CDTF">2026-10-16T14:38:01.5180000Z</dcterms:modified>
</coreProperties>
</file>