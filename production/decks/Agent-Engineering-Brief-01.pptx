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41e909c7bb4af8" /><Relationship Type="http://schemas.openxmlformats.org/officeDocument/2006/relationships/extended-properties" Target="/docProps/app.xml" Id="R73eaa55764254ee9" /><Relationship Type="http://schemas.openxmlformats.org/officeDocument/2006/relationships/officeDocument" Target="/ppt/presentation.xml" Id="R0ab7d88abf2b410d" /></Relationships>
</file>

<file path=ppt/presentation.xml><?xml version="1.0" encoding="utf-8"?>
<p:presentation xmlns:p="http://schemas.openxmlformats.org/presentationml/2006/main">
  <p:sldMasterIdLst>
    <p:sldMasterId xmlns:r="http://schemas.openxmlformats.org/officeDocument/2006/relationships" id="2147483648" r:id="Re34208a142ab429e"/>
  </p:sldMasterIdLst>
  <p:notesMasterIdLst>
    <p:notesMasterId xmlns:r="http://schemas.openxmlformats.org/officeDocument/2006/relationships" r:id="Rfa69188570924e56"/>
  </p:notesMasterIdLst>
  <p:sldIdLst>
    <p:sldId xmlns:r="http://schemas.openxmlformats.org/officeDocument/2006/relationships" id="256" r:id="Rde009c9dfbbf48bc"/>
    <p:sldId xmlns:r="http://schemas.openxmlformats.org/officeDocument/2006/relationships" id="257" r:id="R080e4462d50a4b53"/>
    <p:sldId xmlns:r="http://schemas.openxmlformats.org/officeDocument/2006/relationships" id="258" r:id="R6193c56cea26486e"/>
    <p:sldId xmlns:r="http://schemas.openxmlformats.org/officeDocument/2006/relationships" id="259" r:id="R529461922e154482"/>
    <p:sldId xmlns:r="http://schemas.openxmlformats.org/officeDocument/2006/relationships" id="260" r:id="Rb2a948af888a43ef"/>
    <p:sldId xmlns:r="http://schemas.openxmlformats.org/officeDocument/2006/relationships" id="261" r:id="Ree0a639714cb4eb6"/>
    <p:sldId xmlns:r="http://schemas.openxmlformats.org/officeDocument/2006/relationships" id="262" r:id="Re5d01d224ba347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e436c34c1646bd" /><Relationship Type="http://schemas.openxmlformats.org/officeDocument/2006/relationships/slideMaster" Target="/ppt/slideMasters/slideMaster1.xml" Id="Re34208a142ab429e" /><Relationship Type="http://schemas.openxmlformats.org/officeDocument/2006/relationships/notesMaster" Target="/ppt/notesMasters/notesMaster1.xml" Id="Rfa69188570924e56" /><Relationship Type="http://schemas.openxmlformats.org/officeDocument/2006/relationships/presProps" Target="/ppt/presProps.xml" Id="Rc378c216a265496c" /><Relationship Type="http://schemas.openxmlformats.org/officeDocument/2006/relationships/tableStyles" Target="/ppt/tableStyles.xml" Id="Rf5a3c06cb5bd46e0" /><Relationship Type="http://schemas.openxmlformats.org/officeDocument/2006/relationships/slide" Target="/ppt/slides/slide1.xml" Id="Rde009c9dfbbf48bc" /><Relationship Type="http://schemas.openxmlformats.org/officeDocument/2006/relationships/slide" Target="/ppt/slides/slide2.xml" Id="R080e4462d50a4b53" /><Relationship Type="http://schemas.openxmlformats.org/officeDocument/2006/relationships/slide" Target="/ppt/slides/slide3.xml" Id="R6193c56cea26486e" /><Relationship Type="http://schemas.openxmlformats.org/officeDocument/2006/relationships/slide" Target="/ppt/slides/slide4.xml" Id="R529461922e154482" /><Relationship Type="http://schemas.openxmlformats.org/officeDocument/2006/relationships/slide" Target="/ppt/slides/slide5.xml" Id="Rb2a948af888a43ef" /><Relationship Type="http://schemas.openxmlformats.org/officeDocument/2006/relationships/slide" Target="/ppt/slides/slide6.xml" Id="Ree0a639714cb4eb6" /><Relationship Type="http://schemas.openxmlformats.org/officeDocument/2006/relationships/slide" Target="/ppt/slides/slide7.xml" Id="Re5d01d224ba347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454721cddd4e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163d14938d4651" /><Relationship Type="http://schemas.openxmlformats.org/officeDocument/2006/relationships/notesMaster" Target="/ppt/notesMasters/notesMaster1.xml" Id="R73a59ead0e1e4f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a1ea013d664e9e" /><Relationship Type="http://schemas.openxmlformats.org/officeDocument/2006/relationships/notesMaster" Target="/ppt/notesMasters/notesMaster1.xml" Id="R8789f09f141a49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416717ad0e4ea3" /><Relationship Type="http://schemas.openxmlformats.org/officeDocument/2006/relationships/notesMaster" Target="/ppt/notesMasters/notesMaster1.xml" Id="R38f69f971fb74d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78d7e735de4f87" /><Relationship Type="http://schemas.openxmlformats.org/officeDocument/2006/relationships/notesMaster" Target="/ppt/notesMasters/notesMaster1.xml" Id="R42fc266ab6d745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a3275e2eb1431f" /><Relationship Type="http://schemas.openxmlformats.org/officeDocument/2006/relationships/notesMaster" Target="/ppt/notesMasters/notesMaster1.xml" Id="R4e015c9698954b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7be2181c5e48b1" /><Relationship Type="http://schemas.openxmlformats.org/officeDocument/2006/relationships/notesMaster" Target="/ppt/notesMasters/notesMaster1.xml" Id="R64b19b52b42941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4345149f444181" /><Relationship Type="http://schemas.openxmlformats.org/officeDocument/2006/relationships/notesMaster" Target="/ppt/notesMasters/notesMaster1.xml" Id="R8805c67c745140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you've been watching AI coding tool announcements lately, you've heard the pitch: let agents handle your pull requests, automate your code review, ship faster. What's said less often is that the infrastructure behind those workflows is still being redesigned, the permission controls have known gaps, and the impressive scale numbers describe provider workloads—not yours.</a:t>
            </a:r>
          </a:p>
          <a:p xmlns:a="http://schemas.openxmlformats.org/drawingml/2006/main">
            <a:r>
              <a:t/>
            </a:r>
          </a:p>
          <a:p xmlns:a="http://schemas.openxmlformats.org/drawingml/2006/main">
            <a:r>
              <a:t>Here's what's been reported, what's still being built, and what stays your responsibility either way.</a:t>
            </a:r>
          </a:p>
          <a:p xmlns:a="http://schemas.openxmlformats.org/drawingml/2006/main">
            <a:r>
              <a:t/>
            </a:r>
          </a:p>
          <a:p xmlns:a="http://schemas.openxmlformats.org/drawingml/2006/main">
            <a:r>
              <a:t>SOURCES (not spoken):</a:t>
            </a:r>
          </a:p>
          <a:p xmlns:a="http://schemas.openxmlformats.org/drawingml/2006/main">
            <a:r>
              <a:t># Sources for piece 01</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2.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3.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4.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5. [Code review is no longer the bottleneck at 0:40](https://www.youtube.com/watch?v=IZXv6a78NDw&amp;t=40) — published 2026-10-12T16:00:08.000Z; evidence version 1e92a0d86645fa628d990efef5499b2b0a245db607a4e49adf86bfb41338d43f</a:t>
            </a:r>
          </a:p>
          <a:p xmlns:a="http://schemas.openxmlformats.org/drawingml/2006/main">
            <a:r>
              <a:t>6. [Code review is no longer the bottleneck at 0:41](https://www.youtube.com/watch?v=IZXv6a78NDw&amp;t=41) — published 2026-10-12T16:00:08.000Z; evidence version 1e92a0d86645fa628d990efef5499b2b0a245db607a4e49adf86bfb41338d43f</a:t>
            </a:r>
          </a:p>
          <a:p xmlns:a="http://schemas.openxmlformats.org/drawingml/2006/main">
            <a:r>
              <a:t>7. [Code review is no longer the bottleneck at 0:43](https://www.youtube.com/watch?v=IZXv6a78NDw&amp;t=43) — published 2026-10-12T16:00:08.000Z; evidence version 1e92a0d86645fa628d990efef5499b2b0a245db607a4e49adf86bfb41338d43f</a:t>
            </a:r>
          </a:p>
          <a:p xmlns:a="http://schemas.openxmlformats.org/drawingml/2006/main">
            <a:r>
              <a:t>8. [Code review is no longer the bottleneck at 0:45](https://www.youtube.com/watch?v=IZXv6a78NDw&amp;t=45) — published 2026-10-12T16:00:08.000Z; evidence version 1e92a0d86645fa628d990efef5499b2b0a245db607a4e49adf86bfb41338d43f</a:t>
            </a:r>
          </a:p>
          <a:p xmlns:a="http://schemas.openxmlformats.org/drawingml/2006/main">
            <a:r>
              <a:t>9. [Code review is no longer the bottleneck at 0:47](https://www.youtube.com/watch?v=IZXv6a78NDw&amp;t=47) — published 2026-10-12T16:00:08.000Z; evidence version 1e92a0d86645fa628d990efef5499b2b0a245db607a4e49adf86bfb41338d43f</a:t>
            </a:r>
          </a:p>
          <a:p xmlns:a="http://schemas.openxmlformats.org/drawingml/2006/main">
            <a:r>
              <a:t>10. [Code review is no longer the bottleneck at 2:10](https://www.youtube.com/watch?v=IZXv6a78NDw&amp;t=130) — published 2026-10-12T16:00:08.000Z; evidence version 1e92a0d86645fa628d990efef5499b2b0a245db607a4e49adf86bfb41338d43f</a:t>
            </a:r>
          </a:p>
          <a:p xmlns:a="http://schemas.openxmlformats.org/drawingml/2006/main">
            <a:r>
              <a:t>11. [Code review is no longer the bottleneck at 2:11](https://www.youtube.com/watch?v=IZXv6a78NDw&amp;t=131) — published 2026-10-12T16:00:08.000Z; evidence version 1e92a0d86645fa628d990efef5499b2b0a245db607a4e49adf86bfb41338d43f</a:t>
            </a:r>
          </a:p>
          <a:p xmlns:a="http://schemas.openxmlformats.org/drawingml/2006/main">
            <a:r>
              <a:t>12. [Code review is no longer the bottleneck at 2:13](https://www.youtube.com/watch?v=IZXv6a78NDw&amp;t=133) — published 2026-10-12T16:00:08.000Z; evidence version 1e92a0d86645fa628d990efef5499b2b0a245db607a4e49adf86bfb41338d43f</a:t>
            </a:r>
          </a:p>
          <a:p xmlns:a="http://schemas.openxmlformats.org/drawingml/2006/main">
            <a:r>
              <a:t>13. [Claude Code’s Next Era — Thariq Shihipar, Anthropic at 14:31](https://www.latent.space/p/thariq#t=871) — published 2026-09-29T01:48:18.000Z; evidence version da4c971ed7898c15212f53583ee6c5611cb70df6fe1bb13a4335cba320559712</a:t>
            </a:r>
          </a:p>
          <a:p xmlns:a="http://schemas.openxmlformats.org/drawingml/2006/main">
            <a:r>
              <a:t>14. [Claude Code’s Next Era — Thariq Shihipar, Anthropic at 81:00](https://www.latent.space/p/thariq#t=4860) — published 2026-09-29T01:48:18.000Z; evidence version da4c971ed7898c15212f53583ee6c5611cb70df6fe1bb13a4335cba320559712</a:t>
            </a:r>
          </a:p>
          <a:p xmlns:a="http://schemas.openxmlformats.org/drawingml/2006/main">
            <a:r>
              <a:t>15. [Claude Code’s Next Era — Thariq Shihipar, Anthropic at 83:40](https://www.latent.space/p/thariq#t=5020) — published 2026-09-29T01:48:18.000Z; evidence version da4c971ed7898c15212f53583ee6c5611cb70df6fe1bb13a4335cba320559712</a:t>
            </a:r>
          </a:p>
          <a:p xmlns:a="http://schemas.openxmlformats.org/drawingml/2006/main">
            <a:r>
              <a:t>16.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17.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18.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19.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numbers. GitHub reports that developers and agents made 7.38 billion commits on the platform in September 2026—described by GitHub as more than five times the level from a year earlier—and that monthly pushes grew from roughly 0.69 billion to 3.35 billion year over year, which GitHub attributes substantially to agent-driven workloads.  But GitHub is explicit: the repositories driving those figures are large engineering teams running dense CI pipelines alongside agent fleets. Large CI workloads and concentrated repository activity are alternative explanations for the growth. These figures do not measure what a student team would gain.</a:t>
            </a:r>
          </a:p>
          <a:p xmlns:a="http://schemas.openxmlformats.org/drawingml/2006/main">
            <a:r>
              <a:t/>
            </a:r>
          </a:p>
          <a:p xmlns:a="http://schemas.openxmlformats.org/drawingml/2006/main">
            <a:r>
              <a:t>SOURCES (not spoken):</a:t>
            </a:r>
          </a:p>
          <a:p xmlns:a="http://schemas.openxmlformats.org/drawingml/2006/main">
            <a:r>
              <a:t># Sources for piece 01</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2.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3.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4.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5. [Code review is no longer the bottleneck at 0:40](https://www.youtube.com/watch?v=IZXv6a78NDw&amp;t=40) — published 2026-10-12T16:00:08.000Z; evidence version 1e92a0d86645fa628d990efef5499b2b0a245db607a4e49adf86bfb41338d43f</a:t>
            </a:r>
          </a:p>
          <a:p xmlns:a="http://schemas.openxmlformats.org/drawingml/2006/main">
            <a:r>
              <a:t>6. [Code review is no longer the bottleneck at 0:41](https://www.youtube.com/watch?v=IZXv6a78NDw&amp;t=41) — published 2026-10-12T16:00:08.000Z; evidence version 1e92a0d86645fa628d990efef5499b2b0a245db607a4e49adf86bfb41338d43f</a:t>
            </a:r>
          </a:p>
          <a:p xmlns:a="http://schemas.openxmlformats.org/drawingml/2006/main">
            <a:r>
              <a:t>7. [Code review is no longer the bottleneck at 0:43](https://www.youtube.com/watch?v=IZXv6a78NDw&amp;t=43) — published 2026-10-12T16:00:08.000Z; evidence version 1e92a0d86645fa628d990efef5499b2b0a245db607a4e49adf86bfb41338d43f</a:t>
            </a:r>
          </a:p>
          <a:p xmlns:a="http://schemas.openxmlformats.org/drawingml/2006/main">
            <a:r>
              <a:t>8. [Code review is no longer the bottleneck at 0:45](https://www.youtube.com/watch?v=IZXv6a78NDw&amp;t=45) — published 2026-10-12T16:00:08.000Z; evidence version 1e92a0d86645fa628d990efef5499b2b0a245db607a4e49adf86bfb41338d43f</a:t>
            </a:r>
          </a:p>
          <a:p xmlns:a="http://schemas.openxmlformats.org/drawingml/2006/main">
            <a:r>
              <a:t>9. [Code review is no longer the bottleneck at 0:47](https://www.youtube.com/watch?v=IZXv6a78NDw&amp;t=47) — published 2026-10-12T16:00:08.000Z; evidence version 1e92a0d86645fa628d990efef5499b2b0a245db607a4e49adf86bfb41338d43f</a:t>
            </a:r>
          </a:p>
          <a:p xmlns:a="http://schemas.openxmlformats.org/drawingml/2006/main">
            <a:r>
              <a:t>10. [Code review is no longer the bottleneck at 2:10](https://www.youtube.com/watch?v=IZXv6a78NDw&amp;t=130) — published 2026-10-12T16:00:08.000Z; evidence version 1e92a0d86645fa628d990efef5499b2b0a245db607a4e49adf86bfb41338d43f</a:t>
            </a:r>
          </a:p>
          <a:p xmlns:a="http://schemas.openxmlformats.org/drawingml/2006/main">
            <a:r>
              <a:t>11. [Code review is no longer the bottleneck at 2:11](https://www.youtube.com/watch?v=IZXv6a78NDw&amp;t=131) — published 2026-10-12T16:00:08.000Z; evidence version 1e92a0d86645fa628d990efef5499b2b0a245db607a4e49adf86bfb41338d43f</a:t>
            </a:r>
          </a:p>
          <a:p xmlns:a="http://schemas.openxmlformats.org/drawingml/2006/main">
            <a:r>
              <a:t>12. [Code review is no longer the bottleneck at 2:13](https://www.youtube.com/watch?v=IZXv6a78NDw&amp;t=133) — published 2026-10-12T16:00:08.000Z; evidence version 1e92a0d86645fa628d990efef5499b2b0a245db607a4e49adf86bfb41338d43f</a:t>
            </a:r>
          </a:p>
          <a:p xmlns:a="http://schemas.openxmlformats.org/drawingml/2006/main">
            <a:r>
              <a:t>13. [Claude Code’s Next Era — Thariq Shihipar, Anthropic at 14:31](https://www.latent.space/p/thariq#t=871) — published 2026-09-29T01:48:18.000Z; evidence version da4c971ed7898c15212f53583ee6c5611cb70df6fe1bb13a4335cba320559712</a:t>
            </a:r>
          </a:p>
          <a:p xmlns:a="http://schemas.openxmlformats.org/drawingml/2006/main">
            <a:r>
              <a:t>14. [Claude Code’s Next Era — Thariq Shihipar, Anthropic at 81:00](https://www.latent.space/p/thariq#t=4860) — published 2026-09-29T01:48:18.000Z; evidence version da4c971ed7898c15212f53583ee6c5611cb70df6fe1bb13a4335cba320559712</a:t>
            </a:r>
          </a:p>
          <a:p xmlns:a="http://schemas.openxmlformats.org/drawingml/2006/main">
            <a:r>
              <a:t>15. [Claude Code’s Next Era — Thariq Shihipar, Anthropic at 83:40](https://www.latent.space/p/thariq#t=5020) — published 2026-09-29T01:48:18.000Z; evidence version da4c971ed7898c15212f53583ee6c5611cb70df6fe1bb13a4335cba320559712</a:t>
            </a:r>
          </a:p>
          <a:p xmlns:a="http://schemas.openxmlformats.org/drawingml/2006/main">
            <a:r>
              <a:t>16.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17.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18.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19.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Anthropic's account—relayed through a commentary post by Simon Willison, not the primary engineering article—shows a similar internal pattern. Daily code merges grew from roughly 2,500 in May 2026 to over 30,000 in September 2026, and Anthropic built and migrated to a custom source-control system called Scion, with Claude described as its heaviest user.  This is infrastructure for an AI lab's own agent workload. It is not externally available and was explicitly designed without offline support.</a:t>
            </a:r>
          </a:p>
          <a:p xmlns:a="http://schemas.openxmlformats.org/drawingml/2006/main">
            <a:r>
              <a:t/>
            </a:r>
          </a:p>
          <a:p xmlns:a="http://schemas.openxmlformats.org/drawingml/2006/main">
            <a:r>
              <a:t>SOURCES (not spoken):</a:t>
            </a:r>
          </a:p>
          <a:p xmlns:a="http://schemas.openxmlformats.org/drawingml/2006/main">
            <a:r>
              <a:t># Sources for piece 01</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2.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3.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4.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5. [Code review is no longer the bottleneck at 0:40](https://www.youtube.com/watch?v=IZXv6a78NDw&amp;t=40) — published 2026-10-12T16:00:08.000Z; evidence version 1e92a0d86645fa628d990efef5499b2b0a245db607a4e49adf86bfb41338d43f</a:t>
            </a:r>
          </a:p>
          <a:p xmlns:a="http://schemas.openxmlformats.org/drawingml/2006/main">
            <a:r>
              <a:t>6. [Code review is no longer the bottleneck at 0:41](https://www.youtube.com/watch?v=IZXv6a78NDw&amp;t=41) — published 2026-10-12T16:00:08.000Z; evidence version 1e92a0d86645fa628d990efef5499b2b0a245db607a4e49adf86bfb41338d43f</a:t>
            </a:r>
          </a:p>
          <a:p xmlns:a="http://schemas.openxmlformats.org/drawingml/2006/main">
            <a:r>
              <a:t>7. [Code review is no longer the bottleneck at 0:43](https://www.youtube.com/watch?v=IZXv6a78NDw&amp;t=43) — published 2026-10-12T16:00:08.000Z; evidence version 1e92a0d86645fa628d990efef5499b2b0a245db607a4e49adf86bfb41338d43f</a:t>
            </a:r>
          </a:p>
          <a:p xmlns:a="http://schemas.openxmlformats.org/drawingml/2006/main">
            <a:r>
              <a:t>8. [Code review is no longer the bottleneck at 0:45](https://www.youtube.com/watch?v=IZXv6a78NDw&amp;t=45) — published 2026-10-12T16:00:08.000Z; evidence version 1e92a0d86645fa628d990efef5499b2b0a245db607a4e49adf86bfb41338d43f</a:t>
            </a:r>
          </a:p>
          <a:p xmlns:a="http://schemas.openxmlformats.org/drawingml/2006/main">
            <a:r>
              <a:t>9. [Code review is no longer the bottleneck at 0:47](https://www.youtube.com/watch?v=IZXv6a78NDw&amp;t=47) — published 2026-10-12T16:00:08.000Z; evidence version 1e92a0d86645fa628d990efef5499b2b0a245db607a4e49adf86bfb41338d43f</a:t>
            </a:r>
          </a:p>
          <a:p xmlns:a="http://schemas.openxmlformats.org/drawingml/2006/main">
            <a:r>
              <a:t>10. [Code review is no longer the bottleneck at 2:10](https://www.youtube.com/watch?v=IZXv6a78NDw&amp;t=130) — published 2026-10-12T16:00:08.000Z; evidence version 1e92a0d86645fa628d990efef5499b2b0a245db607a4e49adf86bfb41338d43f</a:t>
            </a:r>
          </a:p>
          <a:p xmlns:a="http://schemas.openxmlformats.org/drawingml/2006/main">
            <a:r>
              <a:t>11. [Code review is no longer the bottleneck at 2:11](https://www.youtube.com/watch?v=IZXv6a78NDw&amp;t=131) — published 2026-10-12T16:00:08.000Z; evidence version 1e92a0d86645fa628d990efef5499b2b0a245db607a4e49adf86bfb41338d43f</a:t>
            </a:r>
          </a:p>
          <a:p xmlns:a="http://schemas.openxmlformats.org/drawingml/2006/main">
            <a:r>
              <a:t>12. [Code review is no longer the bottleneck at 2:13](https://www.youtube.com/watch?v=IZXv6a78NDw&amp;t=133) — published 2026-10-12T16:00:08.000Z; evidence version 1e92a0d86645fa628d990efef5499b2b0a245db607a4e49adf86bfb41338d43f</a:t>
            </a:r>
          </a:p>
          <a:p xmlns:a="http://schemas.openxmlformats.org/drawingml/2006/main">
            <a:r>
              <a:t>13. [Claude Code’s Next Era — Thariq Shihipar, Anthropic at 14:31](https://www.latent.space/p/thariq#t=871) — published 2026-09-29T01:48:18.000Z; evidence version da4c971ed7898c15212f53583ee6c5611cb70df6fe1bb13a4335cba320559712</a:t>
            </a:r>
          </a:p>
          <a:p xmlns:a="http://schemas.openxmlformats.org/drawingml/2006/main">
            <a:r>
              <a:t>14. [Claude Code’s Next Era — Thariq Shihipar, Anthropic at 81:00](https://www.latent.space/p/thariq#t=4860) — published 2026-09-29T01:48:18.000Z; evidence version da4c971ed7898c15212f53583ee6c5611cb70df6fe1bb13a4335cba320559712</a:t>
            </a:r>
          </a:p>
          <a:p xmlns:a="http://schemas.openxmlformats.org/drawingml/2006/main">
            <a:r>
              <a:t>15. [Claude Code’s Next Era — Thariq Shihipar, Anthropic at 83:40](https://www.latent.space/p/thariq#t=5020) — published 2026-09-29T01:48:18.000Z; evidence version da4c971ed7898c15212f53583ee6c5611cb70df6fe1bb13a4335cba320559712</a:t>
            </a:r>
          </a:p>
          <a:p xmlns:a="http://schemas.openxmlformats.org/drawingml/2006/main">
            <a:r>
              <a:t>16.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17.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18.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19.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look at what's available to you. OpenAI's Codex product video demonstrates a code-review workflow where an agent takes an automatic first-pass review of GitHub pull requests once repository permissions are configured. GitHub integration is described as generally available; GitLab is in preview.  What the video does not provide is any evaluation of review accuracy, false-positive rates, or how often the agent misses something. That gap matters directly if you're deciding whether to treat the first pass as a genuine check or just a hint.</a:t>
            </a:r>
          </a:p>
          <a:p xmlns:a="http://schemas.openxmlformats.org/drawingml/2006/main">
            <a:r>
              <a:t/>
            </a:r>
          </a:p>
          <a:p xmlns:a="http://schemas.openxmlformats.org/drawingml/2006/main">
            <a:r>
              <a:t>SOURCES (not spoken):</a:t>
            </a:r>
          </a:p>
          <a:p xmlns:a="http://schemas.openxmlformats.org/drawingml/2006/main">
            <a:r>
              <a:t># Sources for piece 01</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2.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3.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4.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5. [Code review is no longer the bottleneck at 0:40](https://www.youtube.com/watch?v=IZXv6a78NDw&amp;t=40) — published 2026-10-12T16:00:08.000Z; evidence version 1e92a0d86645fa628d990efef5499b2b0a245db607a4e49adf86bfb41338d43f</a:t>
            </a:r>
          </a:p>
          <a:p xmlns:a="http://schemas.openxmlformats.org/drawingml/2006/main">
            <a:r>
              <a:t>6. [Code review is no longer the bottleneck at 0:41](https://www.youtube.com/watch?v=IZXv6a78NDw&amp;t=41) — published 2026-10-12T16:00:08.000Z; evidence version 1e92a0d86645fa628d990efef5499b2b0a245db607a4e49adf86bfb41338d43f</a:t>
            </a:r>
          </a:p>
          <a:p xmlns:a="http://schemas.openxmlformats.org/drawingml/2006/main">
            <a:r>
              <a:t>7. [Code review is no longer the bottleneck at 0:43](https://www.youtube.com/watch?v=IZXv6a78NDw&amp;t=43) — published 2026-10-12T16:00:08.000Z; evidence version 1e92a0d86645fa628d990efef5499b2b0a245db607a4e49adf86bfb41338d43f</a:t>
            </a:r>
          </a:p>
          <a:p xmlns:a="http://schemas.openxmlformats.org/drawingml/2006/main">
            <a:r>
              <a:t>8. [Code review is no longer the bottleneck at 0:45](https://www.youtube.com/watch?v=IZXv6a78NDw&amp;t=45) — published 2026-10-12T16:00:08.000Z; evidence version 1e92a0d86645fa628d990efef5499b2b0a245db607a4e49adf86bfb41338d43f</a:t>
            </a:r>
          </a:p>
          <a:p xmlns:a="http://schemas.openxmlformats.org/drawingml/2006/main">
            <a:r>
              <a:t>9. [Code review is no longer the bottleneck at 0:47](https://www.youtube.com/watch?v=IZXv6a78NDw&amp;t=47) — published 2026-10-12T16:00:08.000Z; evidence version 1e92a0d86645fa628d990efef5499b2b0a245db607a4e49adf86bfb41338d43f</a:t>
            </a:r>
          </a:p>
          <a:p xmlns:a="http://schemas.openxmlformats.org/drawingml/2006/main">
            <a:r>
              <a:t>10. [Code review is no longer the bottleneck at 2:10](https://www.youtube.com/watch?v=IZXv6a78NDw&amp;t=130) — published 2026-10-12T16:00:08.000Z; evidence version 1e92a0d86645fa628d990efef5499b2b0a245db607a4e49adf86bfb41338d43f</a:t>
            </a:r>
          </a:p>
          <a:p xmlns:a="http://schemas.openxmlformats.org/drawingml/2006/main">
            <a:r>
              <a:t>11. [Code review is no longer the bottleneck at 2:11](https://www.youtube.com/watch?v=IZXv6a78NDw&amp;t=131) — published 2026-10-12T16:00:08.000Z; evidence version 1e92a0d86645fa628d990efef5499b2b0a245db607a4e49adf86bfb41338d43f</a:t>
            </a:r>
          </a:p>
          <a:p xmlns:a="http://schemas.openxmlformats.org/drawingml/2006/main">
            <a:r>
              <a:t>12. [Code review is no longer the bottleneck at 2:13](https://www.youtube.com/watch?v=IZXv6a78NDw&amp;t=133) — published 2026-10-12T16:00:08.000Z; evidence version 1e92a0d86645fa628d990efef5499b2b0a245db607a4e49adf86bfb41338d43f</a:t>
            </a:r>
          </a:p>
          <a:p xmlns:a="http://schemas.openxmlformats.org/drawingml/2006/main">
            <a:r>
              <a:t>13. [Claude Code’s Next Era — Thariq Shihipar, Anthropic at 14:31](https://www.latent.space/p/thariq#t=871) — published 2026-09-29T01:48:18.000Z; evidence version da4c971ed7898c15212f53583ee6c5611cb70df6fe1bb13a4335cba320559712</a:t>
            </a:r>
          </a:p>
          <a:p xmlns:a="http://schemas.openxmlformats.org/drawingml/2006/main">
            <a:r>
              <a:t>14. [Claude Code’s Next Era — Thariq Shihipar, Anthropic at 81:00](https://www.latent.space/p/thariq#t=4860) — published 2026-09-29T01:48:18.000Z; evidence version da4c971ed7898c15212f53583ee6c5611cb70df6fe1bb13a4335cba320559712</a:t>
            </a:r>
          </a:p>
          <a:p xmlns:a="http://schemas.openxmlformats.org/drawingml/2006/main">
            <a:r>
              <a:t>15. [Claude Code’s Next Era — Thariq Shihipar, Anthropic at 83:40](https://www.latent.space/p/thariq#t=5020) — published 2026-09-29T01:48:18.000Z; evidence version da4c971ed7898c15212f53583ee6c5611cb70df6fe1bb13a4335cba320559712</a:t>
            </a:r>
          </a:p>
          <a:p xmlns:a="http://schemas.openxmlformats.org/drawingml/2006/main">
            <a:r>
              <a:t>16.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17.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18.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19.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permissions, an Anthropic employee on the Latent Space podcast described multiple layers being added to manage agent permissions at scale: inference-time probes and classifiers, an "auto mode" that checks whether agent actions match what the user actually granted, and identity isolation for multi-agent contexts.  One example given: an agent with database access might use computer-use capabilities to issue its own credentials and edit data—auto mode is designed to catch this by comparing intent against granted scope. But the same account describes this as ongoing work with known edge cases, not a completed system. This is a vendor employee describing their own product, not an independent security audit.</a:t>
            </a:r>
          </a:p>
          <a:p xmlns:a="http://schemas.openxmlformats.org/drawingml/2006/main">
            <a:r>
              <a:t/>
            </a:r>
          </a:p>
          <a:p xmlns:a="http://schemas.openxmlformats.org/drawingml/2006/main">
            <a:r>
              <a:t>SOURCES (not spoken):</a:t>
            </a:r>
          </a:p>
          <a:p xmlns:a="http://schemas.openxmlformats.org/drawingml/2006/main">
            <a:r>
              <a:t># Sources for piece 01</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2.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3.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4.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5. [Code review is no longer the bottleneck at 0:40](https://www.youtube.com/watch?v=IZXv6a78NDw&amp;t=40) — published 2026-10-12T16:00:08.000Z; evidence version 1e92a0d86645fa628d990efef5499b2b0a245db607a4e49adf86bfb41338d43f</a:t>
            </a:r>
          </a:p>
          <a:p xmlns:a="http://schemas.openxmlformats.org/drawingml/2006/main">
            <a:r>
              <a:t>6. [Code review is no longer the bottleneck at 0:41](https://www.youtube.com/watch?v=IZXv6a78NDw&amp;t=41) — published 2026-10-12T16:00:08.000Z; evidence version 1e92a0d86645fa628d990efef5499b2b0a245db607a4e49adf86bfb41338d43f</a:t>
            </a:r>
          </a:p>
          <a:p xmlns:a="http://schemas.openxmlformats.org/drawingml/2006/main">
            <a:r>
              <a:t>7. [Code review is no longer the bottleneck at 0:43](https://www.youtube.com/watch?v=IZXv6a78NDw&amp;t=43) — published 2026-10-12T16:00:08.000Z; evidence version 1e92a0d86645fa628d990efef5499b2b0a245db607a4e49adf86bfb41338d43f</a:t>
            </a:r>
          </a:p>
          <a:p xmlns:a="http://schemas.openxmlformats.org/drawingml/2006/main">
            <a:r>
              <a:t>8. [Code review is no longer the bottleneck at 0:45](https://www.youtube.com/watch?v=IZXv6a78NDw&amp;t=45) — published 2026-10-12T16:00:08.000Z; evidence version 1e92a0d86645fa628d990efef5499b2b0a245db607a4e49adf86bfb41338d43f</a:t>
            </a:r>
          </a:p>
          <a:p xmlns:a="http://schemas.openxmlformats.org/drawingml/2006/main">
            <a:r>
              <a:t>9. [Code review is no longer the bottleneck at 0:47](https://www.youtube.com/watch?v=IZXv6a78NDw&amp;t=47) — published 2026-10-12T16:00:08.000Z; evidence version 1e92a0d86645fa628d990efef5499b2b0a245db607a4e49adf86bfb41338d43f</a:t>
            </a:r>
          </a:p>
          <a:p xmlns:a="http://schemas.openxmlformats.org/drawingml/2006/main">
            <a:r>
              <a:t>10. [Code review is no longer the bottleneck at 2:10](https://www.youtube.com/watch?v=IZXv6a78NDw&amp;t=130) — published 2026-10-12T16:00:08.000Z; evidence version 1e92a0d86645fa628d990efef5499b2b0a245db607a4e49adf86bfb41338d43f</a:t>
            </a:r>
          </a:p>
          <a:p xmlns:a="http://schemas.openxmlformats.org/drawingml/2006/main">
            <a:r>
              <a:t>11. [Code review is no longer the bottleneck at 2:11](https://www.youtube.com/watch?v=IZXv6a78NDw&amp;t=131) — published 2026-10-12T16:00:08.000Z; evidence version 1e92a0d86645fa628d990efef5499b2b0a245db607a4e49adf86bfb41338d43f</a:t>
            </a:r>
          </a:p>
          <a:p xmlns:a="http://schemas.openxmlformats.org/drawingml/2006/main">
            <a:r>
              <a:t>12. [Code review is no longer the bottleneck at 2:13](https://www.youtube.com/watch?v=IZXv6a78NDw&amp;t=133) — published 2026-10-12T16:00:08.000Z; evidence version 1e92a0d86645fa628d990efef5499b2b0a245db607a4e49adf86bfb41338d43f</a:t>
            </a:r>
          </a:p>
          <a:p xmlns:a="http://schemas.openxmlformats.org/drawingml/2006/main">
            <a:r>
              <a:t>13. [Claude Code’s Next Era — Thariq Shihipar, Anthropic at 14:31](https://www.latent.space/p/thariq#t=871) — published 2026-09-29T01:48:18.000Z; evidence version da4c971ed7898c15212f53583ee6c5611cb70df6fe1bb13a4335cba320559712</a:t>
            </a:r>
          </a:p>
          <a:p xmlns:a="http://schemas.openxmlformats.org/drawingml/2006/main">
            <a:r>
              <a:t>14. [Claude Code’s Next Era — Thariq Shihipar, Anthropic at 81:00](https://www.latent.space/p/thariq#t=4860) — published 2026-09-29T01:48:18.000Z; evidence version da4c971ed7898c15212f53583ee6c5611cb70df6fe1bb13a4335cba320559712</a:t>
            </a:r>
          </a:p>
          <a:p xmlns:a="http://schemas.openxmlformats.org/drawingml/2006/main">
            <a:r>
              <a:t>15. [Claude Code’s Next Era — Thariq Shihipar, Anthropic at 83:40](https://www.latent.space/p/thariq#t=5020) — published 2026-09-29T01:48:18.000Z; evidence version da4c971ed7898c15212f53583ee6c5611cb70df6fe1bb13a4335cba320559712</a:t>
            </a:r>
          </a:p>
          <a:p xmlns:a="http://schemas.openxmlformats.org/drawingml/2006/main">
            <a:r>
              <a:t>16.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17.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18.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19.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distinction worth holding onto. GitHub states its planned new architecture must preserve branch protections, required reviews, and audit logs.  GitHub also reports internal benchmarks showing up to 35 times higher write throughput—a figure from GitHub's own engineering team, not an independent evaluator. </a:t>
            </a:r>
          </a:p>
          <a:p xmlns:a="http://schemas.openxmlformats.org/drawingml/2006/main">
            <a:r>
              <a:t/>
            </a:r>
          </a:p>
          <a:p xmlns:a="http://schemas.openxmlformats.org/drawingml/2006/main">
            <a:r>
              <a:t>Willison's commentary adds something at a different layer: Anthropic used adversarial AI review while building Scion and found it effective but myopic—skilled engineers had to steer the model away from over-engineering in response to hypothetical concerns.  One layer enforces workflow controls. The other requires human judgment about what the agent is actually optimizing for. Higher throughput does not replace either one.</a:t>
            </a:r>
          </a:p>
          <a:p xmlns:a="http://schemas.openxmlformats.org/drawingml/2006/main">
            <a:r>
              <a:t/>
            </a:r>
          </a:p>
          <a:p xmlns:a="http://schemas.openxmlformats.org/drawingml/2006/main">
            <a:r>
              <a:t>SOURCES (not spoken):</a:t>
            </a:r>
          </a:p>
          <a:p xmlns:a="http://schemas.openxmlformats.org/drawingml/2006/main">
            <a:r>
              <a:t># Sources for piece 01</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2.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3.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4.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5. [Code review is no longer the bottleneck at 0:40](https://www.youtube.com/watch?v=IZXv6a78NDw&amp;t=40) — published 2026-10-12T16:00:08.000Z; evidence version 1e92a0d86645fa628d990efef5499b2b0a245db607a4e49adf86bfb41338d43f</a:t>
            </a:r>
          </a:p>
          <a:p xmlns:a="http://schemas.openxmlformats.org/drawingml/2006/main">
            <a:r>
              <a:t>6. [Code review is no longer the bottleneck at 0:41](https://www.youtube.com/watch?v=IZXv6a78NDw&amp;t=41) — published 2026-10-12T16:00:08.000Z; evidence version 1e92a0d86645fa628d990efef5499b2b0a245db607a4e49adf86bfb41338d43f</a:t>
            </a:r>
          </a:p>
          <a:p xmlns:a="http://schemas.openxmlformats.org/drawingml/2006/main">
            <a:r>
              <a:t>7. [Code review is no longer the bottleneck at 0:43](https://www.youtube.com/watch?v=IZXv6a78NDw&amp;t=43) — published 2026-10-12T16:00:08.000Z; evidence version 1e92a0d86645fa628d990efef5499b2b0a245db607a4e49adf86bfb41338d43f</a:t>
            </a:r>
          </a:p>
          <a:p xmlns:a="http://schemas.openxmlformats.org/drawingml/2006/main">
            <a:r>
              <a:t>8. [Code review is no longer the bottleneck at 0:45](https://www.youtube.com/watch?v=IZXv6a78NDw&amp;t=45) — published 2026-10-12T16:00:08.000Z; evidence version 1e92a0d86645fa628d990efef5499b2b0a245db607a4e49adf86bfb41338d43f</a:t>
            </a:r>
          </a:p>
          <a:p xmlns:a="http://schemas.openxmlformats.org/drawingml/2006/main">
            <a:r>
              <a:t>9. [Code review is no longer the bottleneck at 0:47](https://www.youtube.com/watch?v=IZXv6a78NDw&amp;t=47) — published 2026-10-12T16:00:08.000Z; evidence version 1e92a0d86645fa628d990efef5499b2b0a245db607a4e49adf86bfb41338d43f</a:t>
            </a:r>
          </a:p>
          <a:p xmlns:a="http://schemas.openxmlformats.org/drawingml/2006/main">
            <a:r>
              <a:t>10. [Code review is no longer the bottleneck at 2:10](https://www.youtube.com/watch?v=IZXv6a78NDw&amp;t=130) — published 2026-10-12T16:00:08.000Z; evidence version 1e92a0d86645fa628d990efef5499b2b0a245db607a4e49adf86bfb41338d43f</a:t>
            </a:r>
          </a:p>
          <a:p xmlns:a="http://schemas.openxmlformats.org/drawingml/2006/main">
            <a:r>
              <a:t>11. [Code review is no longer the bottleneck at 2:11](https://www.youtube.com/watch?v=IZXv6a78NDw&amp;t=131) — published 2026-10-12T16:00:08.000Z; evidence version 1e92a0d86645fa628d990efef5499b2b0a245db607a4e49adf86bfb41338d43f</a:t>
            </a:r>
          </a:p>
          <a:p xmlns:a="http://schemas.openxmlformats.org/drawingml/2006/main">
            <a:r>
              <a:t>12. [Code review is no longer the bottleneck at 2:13](https://www.youtube.com/watch?v=IZXv6a78NDw&amp;t=133) — published 2026-10-12T16:00:08.000Z; evidence version 1e92a0d86645fa628d990efef5499b2b0a245db607a4e49adf86bfb41338d43f</a:t>
            </a:r>
          </a:p>
          <a:p xmlns:a="http://schemas.openxmlformats.org/drawingml/2006/main">
            <a:r>
              <a:t>13. [Claude Code’s Next Era — Thariq Shihipar, Anthropic at 14:31](https://www.latent.space/p/thariq#t=871) — published 2026-09-29T01:48:18.000Z; evidence version da4c971ed7898c15212f53583ee6c5611cb70df6fe1bb13a4335cba320559712</a:t>
            </a:r>
          </a:p>
          <a:p xmlns:a="http://schemas.openxmlformats.org/drawingml/2006/main">
            <a:r>
              <a:t>14. [Claude Code’s Next Era — Thariq Shihipar, Anthropic at 81:00](https://www.latent.space/p/thariq#t=4860) — published 2026-09-29T01:48:18.000Z; evidence version da4c971ed7898c15212f53583ee6c5611cb70df6fe1bb13a4335cba320559712</a:t>
            </a:r>
          </a:p>
          <a:p xmlns:a="http://schemas.openxmlformats.org/drawingml/2006/main">
            <a:r>
              <a:t>15. [Claude Code’s Next Era — Thariq Shihipar, Anthropic at 83:40](https://www.latent.space/p/thariq#t=5020) — published 2026-09-29T01:48:18.000Z; evidence version da4c971ed7898c15212f53583ee6c5611cb70df6fe1bb13a4335cba320559712</a:t>
            </a:r>
          </a:p>
          <a:p xmlns:a="http://schemas.openxmlformats.org/drawingml/2006/main">
            <a:r>
              <a:t>16.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17.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18.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19.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final note. The evidence relies heavily on provider accounts, some relayed through independent commentary. No small-team perspective, no unsuccessful deployment, no independent accuracy measurement appears in this evidence set. That absence matters.</a:t>
            </a:r>
          </a:p>
          <a:p xmlns:a="http://schemas.openxmlformats.org/drawingml/2006/main">
            <a:r>
              <a:t/>
            </a:r>
          </a:p>
          <a:p xmlns:a="http://schemas.openxmlformats.org/drawingml/2006/main">
            <a:r>
              <a:t>The practical question is not whether Anthropic's commit volume grew twelve-fold. It is: when an agent takes a first-pass review of your pull request, what should you still check—and how would you know if it missed something important? These sources do not establish how much review your own project needs.</a:t>
            </a:r>
          </a:p>
          <a:p xmlns:a="http://schemas.openxmlformats.org/drawingml/2006/main">
            <a:r>
              <a:t/>
            </a:r>
          </a:p>
          <a:p xmlns:a="http://schemas.openxmlformats.org/drawingml/2006/main">
            <a:r>
              <a:t>SOURCES (not spoken):</a:t>
            </a:r>
          </a:p>
          <a:p xmlns:a="http://schemas.openxmlformats.org/drawingml/2006/main">
            <a:r>
              <a:t># Sources for piece 01</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2.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3.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4.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5. [Code review is no longer the bottleneck at 0:40](https://www.youtube.com/watch?v=IZXv6a78NDw&amp;t=40) — published 2026-10-12T16:00:08.000Z; evidence version 1e92a0d86645fa628d990efef5499b2b0a245db607a4e49adf86bfb41338d43f</a:t>
            </a:r>
          </a:p>
          <a:p xmlns:a="http://schemas.openxmlformats.org/drawingml/2006/main">
            <a:r>
              <a:t>6. [Code review is no longer the bottleneck at 0:41](https://www.youtube.com/watch?v=IZXv6a78NDw&amp;t=41) — published 2026-10-12T16:00:08.000Z; evidence version 1e92a0d86645fa628d990efef5499b2b0a245db607a4e49adf86bfb41338d43f</a:t>
            </a:r>
          </a:p>
          <a:p xmlns:a="http://schemas.openxmlformats.org/drawingml/2006/main">
            <a:r>
              <a:t>7. [Code review is no longer the bottleneck at 0:43](https://www.youtube.com/watch?v=IZXv6a78NDw&amp;t=43) — published 2026-10-12T16:00:08.000Z; evidence version 1e92a0d86645fa628d990efef5499b2b0a245db607a4e49adf86bfb41338d43f</a:t>
            </a:r>
          </a:p>
          <a:p xmlns:a="http://schemas.openxmlformats.org/drawingml/2006/main">
            <a:r>
              <a:t>8. [Code review is no longer the bottleneck at 0:45](https://www.youtube.com/watch?v=IZXv6a78NDw&amp;t=45) — published 2026-10-12T16:00:08.000Z; evidence version 1e92a0d86645fa628d990efef5499b2b0a245db607a4e49adf86bfb41338d43f</a:t>
            </a:r>
          </a:p>
          <a:p xmlns:a="http://schemas.openxmlformats.org/drawingml/2006/main">
            <a:r>
              <a:t>9. [Code review is no longer the bottleneck at 0:47](https://www.youtube.com/watch?v=IZXv6a78NDw&amp;t=47) — published 2026-10-12T16:00:08.000Z; evidence version 1e92a0d86645fa628d990efef5499b2b0a245db607a4e49adf86bfb41338d43f</a:t>
            </a:r>
          </a:p>
          <a:p xmlns:a="http://schemas.openxmlformats.org/drawingml/2006/main">
            <a:r>
              <a:t>10. [Code review is no longer the bottleneck at 2:10](https://www.youtube.com/watch?v=IZXv6a78NDw&amp;t=130) — published 2026-10-12T16:00:08.000Z; evidence version 1e92a0d86645fa628d990efef5499b2b0a245db607a4e49adf86bfb41338d43f</a:t>
            </a:r>
          </a:p>
          <a:p xmlns:a="http://schemas.openxmlformats.org/drawingml/2006/main">
            <a:r>
              <a:t>11. [Code review is no longer the bottleneck at 2:11](https://www.youtube.com/watch?v=IZXv6a78NDw&amp;t=131) — published 2026-10-12T16:00:08.000Z; evidence version 1e92a0d86645fa628d990efef5499b2b0a245db607a4e49adf86bfb41338d43f</a:t>
            </a:r>
          </a:p>
          <a:p xmlns:a="http://schemas.openxmlformats.org/drawingml/2006/main">
            <a:r>
              <a:t>12. [Code review is no longer the bottleneck at 2:13](https://www.youtube.com/watch?v=IZXv6a78NDw&amp;t=133) — published 2026-10-12T16:00:08.000Z; evidence version 1e92a0d86645fa628d990efef5499b2b0a245db607a4e49adf86bfb41338d43f</a:t>
            </a:r>
          </a:p>
          <a:p xmlns:a="http://schemas.openxmlformats.org/drawingml/2006/main">
            <a:r>
              <a:t>13. [Claude Code’s Next Era — Thariq Shihipar, Anthropic at 14:31](https://www.latent.space/p/thariq#t=871) — published 2026-09-29T01:48:18.000Z; evidence version da4c971ed7898c15212f53583ee6c5611cb70df6fe1bb13a4335cba320559712</a:t>
            </a:r>
          </a:p>
          <a:p xmlns:a="http://schemas.openxmlformats.org/drawingml/2006/main">
            <a:r>
              <a:t>14. [Claude Code’s Next Era — Thariq Shihipar, Anthropic at 81:00](https://www.latent.space/p/thariq#t=4860) — published 2026-09-29T01:48:18.000Z; evidence version da4c971ed7898c15212f53583ee6c5611cb70df6fe1bb13a4335cba320559712</a:t>
            </a:r>
          </a:p>
          <a:p xmlns:a="http://schemas.openxmlformats.org/drawingml/2006/main">
            <a:r>
              <a:t>15. [Claude Code’s Next Era — Thariq Shihipar, Anthropic at 83:40](https://www.latent.space/p/thariq#t=5020) — published 2026-09-29T01:48:18.000Z; evidence version da4c971ed7898c15212f53583ee6c5611cb70df6fe1bb13a4335cba320559712</a:t>
            </a:r>
          </a:p>
          <a:p xmlns:a="http://schemas.openxmlformats.org/drawingml/2006/main">
            <a:r>
              <a:t>16.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17.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18. [Redesigning source control at Anthropic](https://simonwillison.net/2026/Oct/13/redesigning-source-control-at-anthropic/) — published 2026-10-13T23:00:06.000Z; evidence version 51dbfe47fdb19fd2a1fc4dedec37d846efb7f503da9c10e7c2edc69f162ed976</a:t>
            </a:r>
          </a:p>
          <a:p xmlns:a="http://schemas.openxmlformats.org/drawingml/2006/main">
            <a:r>
              <a:t>19. [Building Git infrastructure for agent-scale development](https://github.blog/engineering/architecture-optimization/building-git-infrastructure-for-agent-scale-development/) — published 2026-10-06T20:57:56.000Z; evidence version 508fddac092e64457920339c657ab959b58c65a05cce4cc142d122696df1f595</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290b4a406c46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926ff4037f4e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fa1347e19ca45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641c20217a42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27033c1a7a4d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4d71848126d47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E0855E-8A47-44D6-99B3-D7CE9E8058C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48AE34-5277-40C4-9A56-0214C15AEC1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DBCBBA9-7A40-4237-B9EA-CF36217E728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6192C0-4579-4C4F-83D3-2005BA76DC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B32D4A2-A960-4CFB-88A8-69700B97DB3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AE15645-0994-40E5-8914-9B277BD70D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27E72B-5C17-44B2-BC5E-5FF57721CB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B7D1933-6DF7-4A48-97D1-4921C1E2C7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5D032E-D94B-4D0C-AC55-97FA824609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D7976B-F1D8-4232-A325-E6B17238CBE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b47cb90cda4859" /><Relationship Type="http://schemas.openxmlformats.org/officeDocument/2006/relationships/slideLayout" Target="/ppt/slideLayouts/slideLayout1.xml" Id="R64571a1be1bd42c8" /><Relationship Type="http://schemas.openxmlformats.org/officeDocument/2006/relationships/slideLayout" Target="/ppt/slideLayouts/slideLayout2.xml" Id="R86e9b1ab0d1a4994" /><Relationship Type="http://schemas.openxmlformats.org/officeDocument/2006/relationships/slideLayout" Target="/ppt/slideLayouts/slideLayout3.xml" Id="R620cf966f2704143" /><Relationship Type="http://schemas.openxmlformats.org/officeDocument/2006/relationships/slideLayout" Target="/ppt/slideLayouts/slideLayout4.xml" Id="R02c594559a4e4185" /><Relationship Type="http://schemas.openxmlformats.org/officeDocument/2006/relationships/slideLayout" Target="/ppt/slideLayouts/slideLayout5.xml" Id="R225ed28a502f4d08" /><Relationship Type="http://schemas.openxmlformats.org/officeDocument/2006/relationships/slideLayout" Target="/ppt/slideLayouts/slideLayout6.xml" Id="R38370875c93b43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571a1be1bd42c8"/>
    <p:sldLayoutId xmlns:r="http://schemas.openxmlformats.org/officeDocument/2006/relationships" id="2147483650" r:id="R86e9b1ab0d1a4994"/>
    <p:sldLayoutId xmlns:r="http://schemas.openxmlformats.org/officeDocument/2006/relationships" id="2147483651" r:id="R620cf966f2704143"/>
    <p:sldLayoutId xmlns:r="http://schemas.openxmlformats.org/officeDocument/2006/relationships" id="2147483652" r:id="R02c594559a4e4185"/>
    <p:sldLayoutId xmlns:r="http://schemas.openxmlformats.org/officeDocument/2006/relationships" id="2147483653" r:id="R225ed28a502f4d08"/>
    <p:sldLayoutId xmlns:r="http://schemas.openxmlformats.org/officeDocument/2006/relationships" id="2147483654" r:id="R38370875c93b43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7ffdce8622a4f6f" /><Relationship Type="http://schemas.openxmlformats.org/officeDocument/2006/relationships/image" Target="/ppt/media/image.png" Id="Rb42e2274c80b4e7f" /><Relationship Type="http://schemas.openxmlformats.org/officeDocument/2006/relationships/notesSlide" Target="/ppt/notesSlides/notesSlide1.xml" Id="R48889f02349f48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f62fd070e94be2" /><Relationship Type="http://schemas.openxmlformats.org/officeDocument/2006/relationships/image" Target="/ppt/media/image2.png" Id="R7eb55c8fe92e43ee" /><Relationship Type="http://schemas.openxmlformats.org/officeDocument/2006/relationships/notesSlide" Target="/ppt/notesSlides/notesSlide2.xml" Id="R755448ddb9c444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3fbbfbba7774e08" /><Relationship Type="http://schemas.openxmlformats.org/officeDocument/2006/relationships/image" Target="/ppt/media/image3.png" Id="Rd52ca4dd91074497" /><Relationship Type="http://schemas.openxmlformats.org/officeDocument/2006/relationships/notesSlide" Target="/ppt/notesSlides/notesSlide3.xml" Id="R87b0f6c9069945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7b5353d31f949d7" /><Relationship Type="http://schemas.openxmlformats.org/officeDocument/2006/relationships/image" Target="/ppt/media/image4.png" Id="Rd1fed5686fc24111" /><Relationship Type="http://schemas.openxmlformats.org/officeDocument/2006/relationships/notesSlide" Target="/ppt/notesSlides/notesSlide4.xml" Id="Rcc30078e1ea046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e006fe93b6c4289" /><Relationship Type="http://schemas.openxmlformats.org/officeDocument/2006/relationships/image" Target="/ppt/media/image5.png" Id="R0fdcd7f71bed418e" /><Relationship Type="http://schemas.openxmlformats.org/officeDocument/2006/relationships/notesSlide" Target="/ppt/notesSlides/notesSlide5.xml" Id="R0498f71ace0245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47dbc4870154a6a" /><Relationship Type="http://schemas.openxmlformats.org/officeDocument/2006/relationships/image" Target="/ppt/media/image6.png" Id="Rd6f2c8e6f0f843d9" /><Relationship Type="http://schemas.openxmlformats.org/officeDocument/2006/relationships/notesSlide" Target="/ppt/notesSlides/notesSlide6.xml" Id="R4ae938175f6040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8859fdc9a304ac3" /><Relationship Type="http://schemas.openxmlformats.org/officeDocument/2006/relationships/image" Target="/ppt/media/image7.png" Id="R01479047c8fb49e0" /><Relationship Type="http://schemas.openxmlformats.org/officeDocument/2006/relationships/notesSlide" Target="/ppt/notesSlides/notesSlide7.xml" Id="R8777c3fb728c422d" /></Relationships>
</file>

<file path=ppt/slides/slide1.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F9CD698-43B5-49FF-8061-4946A7EF1A5B}"/>
              </a:ext>
            </a:extLst>
          </p:cNvPr>
          <p:cNvPicPr>
            <a:picLocks xmlns:a="http://schemas.openxmlformats.org/drawingml/2006/main" noChangeAspect="1"/>
          </p:cNvPicPr>
          <p:nvPr/>
        </p:nvPicPr>
        <p:blipFill>
          <a:blip xmlns:r="http://schemas.openxmlformats.org/officeDocument/2006/relationships" xmlns:a="http://schemas.openxmlformats.org/drawingml/2006/main" r:embed="Rb42e2274c80b4e7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2BA866C-5FEE-410F-95E1-AAE98CC70D5D}"/>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F9C3A35C-B54B-46B5-8C79-CD1C4FF70DD8}"/>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4350" b="1">
                <a:solidFill>
                  <a:srgbClr val="FFFFFF"/>
                </a:solidFill>
                <a:latin typeface="Arial"/>
                <a:ea typeface="Arial"/>
                <a:cs typeface="Arial"/>
              </a:defRPr>
            </a:def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The infrastructure underneath your agent</a:t>
            </a:r>
          </a:p>
        </p:txBody>
      </p:sp>
      <p:sp>
        <p:nvSpPr>
          <p:cNvPr id="4" name="">
            <a:extLst xmlns:a="http://schemas.openxmlformats.org/drawingml/2006/main">
              <a:ext uri="{FF2B5EF4-FFF2-40B4-BE49-F238E27FC236}">
                <a16:creationId xmlns:a16="http://schemas.microsoft.com/office/drawing/2014/main" id="{6E68E9FF-816B-4B9C-B08C-EA4949128754}"/>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What providers are rebuilding</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What your team still needs to verify</a:t>
            </a:r>
          </a:p>
        </p:txBody>
      </p:sp>
      <p:sp>
        <p:nvSpPr>
          <p:cNvPr id="5" name="">
            <a:extLst xmlns:a="http://schemas.openxmlformats.org/drawingml/2006/main">
              <a:ext uri="{FF2B5EF4-FFF2-40B4-BE49-F238E27FC236}">
                <a16:creationId xmlns:a16="http://schemas.microsoft.com/office/drawing/2014/main" id="{539C4785-24F7-4E6C-9CC9-B713D77D1484}"/>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Agent Engineering Brief — 01</a:t>
            </a:r>
          </a:p>
        </p:txBody>
      </p:sp>
      <p:sp>
        <p:nvSpPr>
          <p:cNvPr id="6" name="">
            <a:extLst xmlns:a="http://schemas.openxmlformats.org/drawingml/2006/main">
              <a:ext uri="{FF2B5EF4-FFF2-40B4-BE49-F238E27FC236}">
                <a16:creationId xmlns:a16="http://schemas.microsoft.com/office/drawing/2014/main" id="{437DFD0C-0653-47C1-ACEB-0F139EF2B843}"/>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978CFD33-CDE2-4CB7-94F6-849077D35E72}"/>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01</a:t>
            </a:r>
          </a:p>
        </p:txBody>
      </p:sp>
    </p:spTree>
    <p:extLst>
      <p:ext uri="{BB962C8B-B14F-4D97-AF65-F5344CB8AC3E}">
        <p14:creationId xmlns:p14="http://schemas.microsoft.com/office/powerpoint/2010/main" val="190745383"/>
      </p:ext>
    </p:extLst>
  </p:cSld>
</p:sld>
</file>

<file path=ppt/slides/slide2.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1A43D29-221B-4CA2-810B-966770740949}"/>
              </a:ext>
            </a:extLst>
          </p:cNvPr>
          <p:cNvPicPr>
            <a:picLocks xmlns:a="http://schemas.openxmlformats.org/drawingml/2006/main" noChangeAspect="1"/>
          </p:cNvPicPr>
          <p:nvPr/>
        </p:nvPicPr>
        <p:blipFill>
          <a:blip xmlns:r="http://schemas.openxmlformats.org/officeDocument/2006/relationships" xmlns:a="http://schemas.openxmlformats.org/drawingml/2006/main" r:embed="R7eb55c8fe92e43e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8416353-973E-43EB-B48F-07468A4AE9CE}"/>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D8E42D5E-5F33-4290-A016-4C7F0A3042D7}"/>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GitHub’s changing workload</a:t>
            </a:r>
          </a:p>
        </p:txBody>
      </p:sp>
      <p:sp>
        <p:nvSpPr>
          <p:cNvPr id="4" name="">
            <a:extLst xmlns:a="http://schemas.openxmlformats.org/drawingml/2006/main">
              <a:ext uri="{FF2B5EF4-FFF2-40B4-BE49-F238E27FC236}">
                <a16:creationId xmlns:a16="http://schemas.microsoft.com/office/drawing/2014/main" id="{BED319CF-BBF2-48D9-AA2B-9F0BF4CDAE6D}"/>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7.38 billion commits in September 2026</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Large CI pipelines and agent fleets drive activity</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These totals do not measure student-team gains</a:t>
            </a:r>
          </a:p>
        </p:txBody>
      </p:sp>
      <p:sp>
        <p:nvSpPr>
          <p:cNvPr id="5" name="">
            <a:extLst xmlns:a="http://schemas.openxmlformats.org/drawingml/2006/main">
              <a:ext uri="{FF2B5EF4-FFF2-40B4-BE49-F238E27FC236}">
                <a16:creationId xmlns:a16="http://schemas.microsoft.com/office/drawing/2014/main" id="{0AC57FDF-2256-4497-AD03-2798D72FD6D4}"/>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Source: GitHub engineering report; vendor-reported figures</a:t>
            </a:r>
          </a:p>
        </p:txBody>
      </p:sp>
      <p:sp>
        <p:nvSpPr>
          <p:cNvPr id="6" name="">
            <a:extLst xmlns:a="http://schemas.openxmlformats.org/drawingml/2006/main">
              <a:ext uri="{FF2B5EF4-FFF2-40B4-BE49-F238E27FC236}">
                <a16:creationId xmlns:a16="http://schemas.microsoft.com/office/drawing/2014/main" id="{38A5778F-5978-43D1-B631-72B567FDDCB4}"/>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F2D652BE-C886-4BB5-9998-66C6C859F914}"/>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02</a:t>
            </a:r>
          </a:p>
        </p:txBody>
      </p:sp>
    </p:spTree>
    <p:extLst>
      <p:ext uri="{BB962C8B-B14F-4D97-AF65-F5344CB8AC3E}">
        <p14:creationId xmlns:p14="http://schemas.microsoft.com/office/powerpoint/2010/main" val="2045744361"/>
      </p:ext>
    </p:extLst>
  </p:cSld>
</p:sld>
</file>

<file path=ppt/slides/slide3.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6E88611-AA81-4BB9-BC42-CC6494881E3B}"/>
              </a:ext>
            </a:extLst>
          </p:cNvPr>
          <p:cNvPicPr>
            <a:picLocks xmlns:a="http://schemas.openxmlformats.org/drawingml/2006/main" noChangeAspect="1"/>
          </p:cNvPicPr>
          <p:nvPr/>
        </p:nvPicPr>
        <p:blipFill>
          <a:blip xmlns:r="http://schemas.openxmlformats.org/officeDocument/2006/relationships" xmlns:a="http://schemas.openxmlformats.org/drawingml/2006/main" r:embed="Rd52ca4dd9107449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8AEF83C-C674-4930-A356-217A17B32F61}"/>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0F8A8DAA-848D-42C7-8982-D88B46C417C0}"/>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Anthropic’s internal source control</a:t>
            </a:r>
          </a:p>
        </p:txBody>
      </p:sp>
      <p:sp>
        <p:nvSpPr>
          <p:cNvPr id="4" name="">
            <a:extLst xmlns:a="http://schemas.openxmlformats.org/drawingml/2006/main">
              <a:ext uri="{FF2B5EF4-FFF2-40B4-BE49-F238E27FC236}">
                <a16:creationId xmlns:a16="http://schemas.microsoft.com/office/drawing/2014/main" id="{06696094-94F5-414E-A282-338D1A144F41}"/>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Scion serves an AI lab’s own workload</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The account describes rapid growth in daily merges</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Offline support and public availability are absent</a:t>
            </a:r>
          </a:p>
        </p:txBody>
      </p:sp>
      <p:sp>
        <p:nvSpPr>
          <p:cNvPr id="5" name="">
            <a:extLst xmlns:a="http://schemas.openxmlformats.org/drawingml/2006/main">
              <a:ext uri="{FF2B5EF4-FFF2-40B4-BE49-F238E27FC236}">
                <a16:creationId xmlns:a16="http://schemas.microsoft.com/office/drawing/2014/main" id="{69611702-FD0B-4920-8F82-7F60D3337E52}"/>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Source: Simon Willison relaying Anthropic’s account</a:t>
            </a:r>
          </a:p>
        </p:txBody>
      </p:sp>
      <p:sp>
        <p:nvSpPr>
          <p:cNvPr id="6" name="">
            <a:extLst xmlns:a="http://schemas.openxmlformats.org/drawingml/2006/main">
              <a:ext uri="{FF2B5EF4-FFF2-40B4-BE49-F238E27FC236}">
                <a16:creationId xmlns:a16="http://schemas.microsoft.com/office/drawing/2014/main" id="{45E1CB86-0267-4E97-B2D7-08111163E5CA}"/>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51A0EE78-FEF0-4D9A-9FD3-D44EEFD4055E}"/>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03</a:t>
            </a:r>
          </a:p>
        </p:txBody>
      </p:sp>
    </p:spTree>
    <p:extLst>
      <p:ext uri="{BB962C8B-B14F-4D97-AF65-F5344CB8AC3E}">
        <p14:creationId xmlns:p14="http://schemas.microsoft.com/office/powerpoint/2010/main" val="33585889"/>
      </p:ext>
    </p:extLst>
  </p:cSld>
</p:sld>
</file>

<file path=ppt/slides/slide4.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68BC023-DBA3-4075-BFEA-CC4FEC6BFB30}"/>
              </a:ext>
            </a:extLst>
          </p:cNvPr>
          <p:cNvPicPr>
            <a:picLocks xmlns:a="http://schemas.openxmlformats.org/drawingml/2006/main" noChangeAspect="1"/>
          </p:cNvPicPr>
          <p:nvPr/>
        </p:nvPicPr>
        <p:blipFill>
          <a:blip xmlns:r="http://schemas.openxmlformats.org/officeDocument/2006/relationships" xmlns:a="http://schemas.openxmlformats.org/drawingml/2006/main" r:embed="Rd1fed5686fc2411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E0CDFF0-91F8-494B-9E0A-BEE7AC3BE0FE}"/>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8162F288-A25A-4089-A30C-668304A027CB}"/>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Automated code review</a:t>
            </a:r>
          </a:p>
        </p:txBody>
      </p:sp>
      <p:sp>
        <p:nvSpPr>
          <p:cNvPr id="4" name="">
            <a:extLst xmlns:a="http://schemas.openxmlformats.org/drawingml/2006/main">
              <a:ext uri="{FF2B5EF4-FFF2-40B4-BE49-F238E27FC236}">
                <a16:creationId xmlns:a16="http://schemas.microsoft.com/office/drawing/2014/main" id="{5116382E-301F-4592-9618-A66A15A21352}"/>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Codex demonstrates a first review of pull requests</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Repository permissions still matter</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The demonstration supplies no accuracy evaluation</a:t>
            </a:r>
          </a:p>
        </p:txBody>
      </p:sp>
      <p:sp>
        <p:nvSpPr>
          <p:cNvPr id="5" name="">
            <a:extLst xmlns:a="http://schemas.openxmlformats.org/drawingml/2006/main">
              <a:ext uri="{FF2B5EF4-FFF2-40B4-BE49-F238E27FC236}">
                <a16:creationId xmlns:a16="http://schemas.microsoft.com/office/drawing/2014/main" id="{C1E56FC5-74E6-4516-B937-49304BA957AF}"/>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Source: OpenAI product video, October 12, 2026</a:t>
            </a:r>
          </a:p>
        </p:txBody>
      </p:sp>
      <p:sp>
        <p:nvSpPr>
          <p:cNvPr id="6" name="">
            <a:extLst xmlns:a="http://schemas.openxmlformats.org/drawingml/2006/main">
              <a:ext uri="{FF2B5EF4-FFF2-40B4-BE49-F238E27FC236}">
                <a16:creationId xmlns:a16="http://schemas.microsoft.com/office/drawing/2014/main" id="{81D7E20C-BD63-4D2C-906B-284D3DC764BB}"/>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99C3DD8E-99B8-4572-9736-767126697C6A}"/>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04</a:t>
            </a:r>
          </a:p>
        </p:txBody>
      </p:sp>
    </p:spTree>
    <p:extLst>
      <p:ext uri="{BB962C8B-B14F-4D97-AF65-F5344CB8AC3E}">
        <p14:creationId xmlns:p14="http://schemas.microsoft.com/office/powerpoint/2010/main" val="564011700"/>
      </p:ext>
    </p:extLst>
  </p:cSld>
</p:sld>
</file>

<file path=ppt/slides/slide5.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34CA0F3-BCCB-41AC-8BB2-A99614270AE5}"/>
              </a:ext>
            </a:extLst>
          </p:cNvPr>
          <p:cNvPicPr>
            <a:picLocks xmlns:a="http://schemas.openxmlformats.org/drawingml/2006/main" noChangeAspect="1"/>
          </p:cNvPicPr>
          <p:nvPr/>
        </p:nvPicPr>
        <p:blipFill>
          <a:blip xmlns:r="http://schemas.openxmlformats.org/officeDocument/2006/relationships" xmlns:a="http://schemas.openxmlformats.org/drawingml/2006/main" r:embed="R0fdcd7f71bed418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A01778-806D-4D27-9188-03248ACE8333}"/>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14C5E1D3-2BB4-4B24-895E-42F70FF2603A}"/>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Permissions and oversight</a:t>
            </a:r>
          </a:p>
        </p:txBody>
      </p:sp>
      <p:sp>
        <p:nvSpPr>
          <p:cNvPr id="4" name="">
            <a:extLst xmlns:a="http://schemas.openxmlformats.org/drawingml/2006/main">
              <a:ext uri="{FF2B5EF4-FFF2-40B4-BE49-F238E27FC236}">
                <a16:creationId xmlns:a16="http://schemas.microsoft.com/office/drawing/2014/main" id="{91996224-A216-45B2-B4A0-C6566B821257}"/>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The interview describes checks against granted scope</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Identity isolation addresses multiple-agent contexts</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Known edge cases remain</a:t>
            </a:r>
          </a:p>
        </p:txBody>
      </p:sp>
      <p:sp>
        <p:nvSpPr>
          <p:cNvPr id="5" name="">
            <a:extLst xmlns:a="http://schemas.openxmlformats.org/drawingml/2006/main">
              <a:ext uri="{FF2B5EF4-FFF2-40B4-BE49-F238E27FC236}">
                <a16:creationId xmlns:a16="http://schemas.microsoft.com/office/drawing/2014/main" id="{296A35B3-1AAC-4A45-9A45-71D46BE77BCA}"/>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Source: Latent Space interview with Thariq Shihipar</a:t>
            </a:r>
          </a:p>
        </p:txBody>
      </p:sp>
      <p:sp>
        <p:nvSpPr>
          <p:cNvPr id="6" name="">
            <a:extLst xmlns:a="http://schemas.openxmlformats.org/drawingml/2006/main">
              <a:ext uri="{FF2B5EF4-FFF2-40B4-BE49-F238E27FC236}">
                <a16:creationId xmlns:a16="http://schemas.microsoft.com/office/drawing/2014/main" id="{6E721B3A-25C4-472E-97DC-8B3CC5D33BFA}"/>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6162AAF2-E05B-42EC-A70F-356BE1BEBD02}"/>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05</a:t>
            </a:r>
          </a:p>
        </p:txBody>
      </p:sp>
    </p:spTree>
    <p:extLst>
      <p:ext uri="{BB962C8B-B14F-4D97-AF65-F5344CB8AC3E}">
        <p14:creationId xmlns:p14="http://schemas.microsoft.com/office/powerpoint/2010/main" val="144098389"/>
      </p:ext>
    </p:extLst>
  </p:cSld>
</p:sld>
</file>

<file path=ppt/slides/slide6.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BB63A74-56CA-4AFA-97A9-49BA36AB3CD9}"/>
              </a:ext>
            </a:extLst>
          </p:cNvPr>
          <p:cNvPicPr>
            <a:picLocks xmlns:a="http://schemas.openxmlformats.org/drawingml/2006/main" noChangeAspect="1"/>
          </p:cNvPicPr>
          <p:nvPr/>
        </p:nvPicPr>
        <p:blipFill>
          <a:blip xmlns:r="http://schemas.openxmlformats.org/officeDocument/2006/relationships" xmlns:a="http://schemas.openxmlformats.org/drawingml/2006/main" r:embed="Rd6f2c8e6f0f843d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3511944-E761-4CE7-A087-BFC7B8536FA4}"/>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F1C1D169-3C2F-4D2A-9614-A2C840873454}"/>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Throughput and judgment</a:t>
            </a:r>
          </a:p>
        </p:txBody>
      </p:sp>
      <p:sp>
        <p:nvSpPr>
          <p:cNvPr id="4" name="">
            <a:extLst xmlns:a="http://schemas.openxmlformats.org/drawingml/2006/main">
              <a:ext uri="{FF2B5EF4-FFF2-40B4-BE49-F238E27FC236}">
                <a16:creationId xmlns:a16="http://schemas.microsoft.com/office/drawing/2014/main" id="{F619AF1C-0E90-4835-986B-F60B73BEA147}"/>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GitHub says workflow controls must remain intact</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Adversarial AI review can still over-engineer</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Skilled reviewers must assess what the agent optimizes</a:t>
            </a:r>
          </a:p>
        </p:txBody>
      </p:sp>
      <p:sp>
        <p:nvSpPr>
          <p:cNvPr id="5" name="">
            <a:extLst xmlns:a="http://schemas.openxmlformats.org/drawingml/2006/main">
              <a:ext uri="{FF2B5EF4-FFF2-40B4-BE49-F238E27FC236}">
                <a16:creationId xmlns:a16="http://schemas.microsoft.com/office/drawing/2014/main" id="{9A3104CF-9B84-4B20-BA9B-CAD08E70E7C7}"/>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Sources: GitHub; Simon Willison</a:t>
            </a:r>
          </a:p>
        </p:txBody>
      </p:sp>
      <p:sp>
        <p:nvSpPr>
          <p:cNvPr id="6" name="">
            <a:extLst xmlns:a="http://schemas.openxmlformats.org/drawingml/2006/main">
              <a:ext uri="{FF2B5EF4-FFF2-40B4-BE49-F238E27FC236}">
                <a16:creationId xmlns:a16="http://schemas.microsoft.com/office/drawing/2014/main" id="{552951FE-0BD4-4161-97CD-4530659A3DB3}"/>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69C96B85-F0BC-4E66-AE88-C391DA7A72B5}"/>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06</a:t>
            </a:r>
          </a:p>
        </p:txBody>
      </p:sp>
    </p:spTree>
    <p:extLst>
      <p:ext uri="{BB962C8B-B14F-4D97-AF65-F5344CB8AC3E}">
        <p14:creationId xmlns:p14="http://schemas.microsoft.com/office/powerpoint/2010/main" val="228806473"/>
      </p:ext>
    </p:extLst>
  </p:cSld>
</p:sld>
</file>

<file path=ppt/slides/slide7.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0E65BF8-7506-4342-9E4E-D14210C57270}"/>
              </a:ext>
            </a:extLst>
          </p:cNvPr>
          <p:cNvPicPr>
            <a:picLocks xmlns:a="http://schemas.openxmlformats.org/drawingml/2006/main" noChangeAspect="1"/>
          </p:cNvPicPr>
          <p:nvPr/>
        </p:nvPicPr>
        <p:blipFill>
          <a:blip xmlns:r="http://schemas.openxmlformats.org/officeDocument/2006/relationships" xmlns:a="http://schemas.openxmlformats.org/drawingml/2006/main" r:embed="R01479047c8fb49e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2468E5B-F355-4AB2-91F2-0058649B6FA8}"/>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EF1890FE-76B1-4A55-B2C6-34C07FA192C4}"/>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What should your team still check?</a:t>
            </a:r>
          </a:p>
        </p:txBody>
      </p:sp>
      <p:sp>
        <p:nvSpPr>
          <p:cNvPr id="4" name="">
            <a:extLst xmlns:a="http://schemas.openxmlformats.org/drawingml/2006/main">
              <a:ext uri="{FF2B5EF4-FFF2-40B4-BE49-F238E27FC236}">
                <a16:creationId xmlns:a16="http://schemas.microsoft.com/office/drawing/2014/main" id="{C09D845F-4EB3-4FE2-8FFC-531431E0A6A5}"/>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Provider accounts dominate the evidence</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Small-team outcomes remain unmeasured</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Choose checks that can reveal a missed defect</a:t>
            </a:r>
          </a:p>
        </p:txBody>
      </p:sp>
      <p:sp>
        <p:nvSpPr>
          <p:cNvPr id="5" name="">
            <a:extLst xmlns:a="http://schemas.openxmlformats.org/drawingml/2006/main">
              <a:ext uri="{FF2B5EF4-FFF2-40B4-BE49-F238E27FC236}">
                <a16:creationId xmlns:a16="http://schemas.microsoft.com/office/drawing/2014/main" id="{284A6937-55D0-4913-AAE5-EF7DD1D6ED80}"/>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Editorial inference; limitations of this evidence set</a:t>
            </a:r>
          </a:p>
        </p:txBody>
      </p:sp>
      <p:sp>
        <p:nvSpPr>
          <p:cNvPr id="6" name="">
            <a:extLst xmlns:a="http://schemas.openxmlformats.org/drawingml/2006/main">
              <a:ext uri="{FF2B5EF4-FFF2-40B4-BE49-F238E27FC236}">
                <a16:creationId xmlns:a16="http://schemas.microsoft.com/office/drawing/2014/main" id="{BB8EA95D-B527-4D40-8987-07FDEEF647FF}"/>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637EC643-03D6-400E-8522-DF499CD467F7}"/>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07</a:t>
            </a:r>
          </a:p>
        </p:txBody>
      </p:sp>
    </p:spTree>
    <p:extLst>
      <p:ext uri="{BB962C8B-B14F-4D97-AF65-F5344CB8AC3E}">
        <p14:creationId xmlns:p14="http://schemas.microsoft.com/office/powerpoint/2010/main" val="4539640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2026-10-16T14:37:37.2440000Z</dcterms:created>
  <dcterms:modified xsi:type="dcterms:W3CDTF">2026-10-16T14:37:37.2440000Z</dcterms:modified>
</coreProperties>
</file>